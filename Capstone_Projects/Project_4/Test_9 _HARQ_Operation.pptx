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4444" r:id="rId3"/>
    <p:sldId id="4443" r:id="rId4"/>
    <p:sldId id="4442" r:id="rId5"/>
    <p:sldId id="4441" r:id="rId6"/>
    <p:sldId id="4449" r:id="rId7"/>
    <p:sldId id="4466" r:id="rId8"/>
    <p:sldId id="4440" r:id="rId9"/>
    <p:sldId id="4456" r:id="rId10"/>
    <p:sldId id="4460" r:id="rId11"/>
    <p:sldId id="4433" r:id="rId12"/>
    <p:sldId id="4461" r:id="rId13"/>
    <p:sldId id="4438" r:id="rId14"/>
    <p:sldId id="4454" r:id="rId15"/>
    <p:sldId id="4463" r:id="rId16"/>
    <p:sldId id="4464" r:id="rId17"/>
    <p:sldId id="4462" r:id="rId18"/>
    <p:sldId id="4455" r:id="rId19"/>
    <p:sldId id="4424" r:id="rId20"/>
    <p:sldId id="4446" r:id="rId21"/>
    <p:sldId id="4448" r:id="rId22"/>
    <p:sldId id="44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E4A2"/>
    <a:srgbClr val="3994F9"/>
    <a:srgbClr val="3399FF"/>
    <a:srgbClr val="2975C1"/>
    <a:srgbClr val="1D9F9F"/>
    <a:srgbClr val="FF66CC"/>
    <a:srgbClr val="CCFF66"/>
    <a:srgbClr val="58908B"/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5G NR RLC ARQ Process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C4D1D-2B84-9A8B-B4CA-1E734E9489BE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9AA8B2F-0D47-DDF1-8092-67479BEE4B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518627" y="390069"/>
            <a:ext cx="1212311" cy="788699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E470500D-35DA-2567-5A59-55047393FF87}"/>
              </a:ext>
            </a:extLst>
          </p:cNvPr>
          <p:cNvSpPr txBox="1"/>
          <p:nvPr/>
        </p:nvSpPr>
        <p:spPr>
          <a:xfrm>
            <a:off x="518627" y="16561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31B1839-82E3-EFB6-DB27-FBC046B0B8C1}"/>
              </a:ext>
            </a:extLst>
          </p:cNvPr>
          <p:cNvSpPr txBox="1"/>
          <p:nvPr/>
        </p:nvSpPr>
        <p:spPr>
          <a:xfrm>
            <a:off x="518627" y="34276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CD13D15A-5053-0DC1-FECE-A762819BC3FB}"/>
              </a:ext>
            </a:extLst>
          </p:cNvPr>
          <p:cNvSpPr txBox="1"/>
          <p:nvPr/>
        </p:nvSpPr>
        <p:spPr>
          <a:xfrm>
            <a:off x="518626" y="62928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0BE9C44-E9E7-2331-2CE3-2708B69FC8A4}"/>
              </a:ext>
            </a:extLst>
          </p:cNvPr>
          <p:cNvSpPr txBox="1"/>
          <p:nvPr/>
        </p:nvSpPr>
        <p:spPr>
          <a:xfrm>
            <a:off x="518626" y="52138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F0F7CAC-5D09-3750-B0A6-F03BD02C9D73}"/>
              </a:ext>
            </a:extLst>
          </p:cNvPr>
          <p:cNvSpPr txBox="1"/>
          <p:nvPr/>
        </p:nvSpPr>
        <p:spPr>
          <a:xfrm>
            <a:off x="518627" y="4289306"/>
            <a:ext cx="8663080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-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Test 9: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Physical Layer - HARQ Operation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HK Grotesk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0AAE-C1CE-E74E-D3E4-B7E9DF30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3980601-E2A1-5752-3C2E-310C063C1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755B8A2-B796-A881-5166-CD4A52070989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B5892-7289-B4FE-10FC-02AB9D4A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4D58927-869B-2537-EBBA-FA835D0D0EA3}"/>
              </a:ext>
            </a:extLst>
          </p:cNvPr>
          <p:cNvSpPr/>
          <p:nvPr/>
        </p:nvSpPr>
        <p:spPr>
          <a:xfrm>
            <a:off x="0" y="0"/>
            <a:ext cx="12191999" cy="457201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B3CE99E-11B1-61E0-77CA-364F3570FF19}"/>
              </a:ext>
            </a:extLst>
          </p:cNvPr>
          <p:cNvSpPr/>
          <p:nvPr/>
        </p:nvSpPr>
        <p:spPr>
          <a:xfrm>
            <a:off x="1981199" y="201168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PDCP LAYER</a:t>
            </a:r>
            <a:endParaRPr lang="en-US"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D87322C-FC1A-5B15-C46D-E07135BB925E}"/>
              </a:ext>
            </a:extLst>
          </p:cNvPr>
          <p:cNvSpPr/>
          <p:nvPr/>
        </p:nvSpPr>
        <p:spPr>
          <a:xfrm>
            <a:off x="1981199" y="306559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Header Compression</a:t>
            </a:r>
            <a:endParaRPr lang="en-US" sz="32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43B2AFA-395B-1AB7-432A-BDFE2783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837" y="3767185"/>
            <a:ext cx="914400" cy="91440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DB49D0D5-A9E3-CDB9-7566-9551CFD11D61}"/>
              </a:ext>
            </a:extLst>
          </p:cNvPr>
          <p:cNvSpPr/>
          <p:nvPr/>
        </p:nvSpPr>
        <p:spPr>
          <a:xfrm>
            <a:off x="2240437" y="48885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5G NR Protocol Stack Implementation</a:t>
            </a:r>
            <a:endParaRPr lang="en-US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D2CE00A-4A6A-1854-DA0B-5FF2A0A86785}"/>
              </a:ext>
            </a:extLst>
          </p:cNvPr>
          <p:cNvSpPr/>
          <p:nvPr/>
        </p:nvSpPr>
        <p:spPr>
          <a:xfrm>
            <a:off x="0" y="5826943"/>
            <a:ext cx="12192000" cy="457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2C530-DC7A-6636-41D7-126D1DE3F8BB}"/>
              </a:ext>
            </a:extLst>
          </p:cNvPr>
          <p:cNvSpPr txBox="1"/>
          <p:nvPr/>
        </p:nvSpPr>
        <p:spPr>
          <a:xfrm>
            <a:off x="0" y="461913"/>
            <a:ext cx="12192000" cy="5365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2E2F9811-FA64-AEE1-21F0-295AC1482B85}"/>
              </a:ext>
            </a:extLst>
          </p:cNvPr>
          <p:cNvSpPr/>
          <p:nvPr/>
        </p:nvSpPr>
        <p:spPr>
          <a:xfrm>
            <a:off x="1981199" y="20471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Arial Black" pitchFamily="34" charset="0"/>
              </a:rPr>
              <a:t>HARQ OPERATION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rial Black" pitchFamily="34" charset="0"/>
              </a:rPr>
              <a:t>(Physical Layer)</a:t>
            </a:r>
            <a:endParaRPr lang="en-US" sz="4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51A21B4-0CC9-A67E-2738-64B7899068F0}"/>
              </a:ext>
            </a:extLst>
          </p:cNvPr>
          <p:cNvSpPr/>
          <p:nvPr/>
        </p:nvSpPr>
        <p:spPr>
          <a:xfrm>
            <a:off x="1791878" y="3728769"/>
            <a:ext cx="86082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Automatic Repeat Request in 5G New Radio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D64DAB7-B9C3-2D91-0205-C1F26B749FEF}"/>
              </a:ext>
            </a:extLst>
          </p:cNvPr>
          <p:cNvSpPr/>
          <p:nvPr/>
        </p:nvSpPr>
        <p:spPr>
          <a:xfrm>
            <a:off x="5046926" y="5826943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38.321 | TS 38.214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6822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15BC-143E-6A2B-70A3-311A34AC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0FB30-071D-73D2-3BF2-81C0B4B77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A2059EE-1175-A3F9-7FC4-BDF9AA12199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B2C5-0F96-34CF-E130-753FC4E1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C1EB7-E0E1-17A6-FE01-295E5726032C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BC97C-3A19-9D03-5C42-D9BFBA9D7F42}"/>
              </a:ext>
            </a:extLst>
          </p:cNvPr>
          <p:cNvSpPr txBox="1"/>
          <p:nvPr/>
        </p:nvSpPr>
        <p:spPr>
          <a:xfrm>
            <a:off x="165442" y="185600"/>
            <a:ext cx="8587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HARQ ?</a:t>
            </a: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CD819C9-3375-497C-028A-F1BCF321288A}"/>
              </a:ext>
            </a:extLst>
          </p:cNvPr>
          <p:cNvSpPr/>
          <p:nvPr/>
        </p:nvSpPr>
        <p:spPr>
          <a:xfrm>
            <a:off x="-4714" y="5711476"/>
            <a:ext cx="12192000" cy="640080"/>
          </a:xfrm>
          <a:prstGeom prst="rect">
            <a:avLst/>
          </a:prstGeom>
          <a:solidFill>
            <a:srgbClr val="028090">
              <a:alpha val="9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53A3A13-11B9-C188-8F9B-850B8206CD8B}"/>
              </a:ext>
            </a:extLst>
          </p:cNvPr>
          <p:cNvSpPr/>
          <p:nvPr/>
        </p:nvSpPr>
        <p:spPr>
          <a:xfrm>
            <a:off x="848412" y="1477180"/>
            <a:ext cx="10548594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Automatic Repeat Request (HARQ)</a:t>
            </a:r>
            <a:endParaRPr lang="en-US" sz="2400" dirty="0"/>
          </a:p>
          <a:p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reliability mechanism in 5G NR that combines Forward Error Correction (FEC) with feedback-driven retransmissions to ensure robust data delivery over unreliable wireless channels.</a:t>
            </a:r>
            <a:endParaRPr lang="en-US" sz="2400" dirty="0"/>
          </a:p>
          <a:p>
            <a:endParaRPr lang="en-IN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EA82DCCE-686F-6E7B-75EE-47E1DD509A3A}"/>
              </a:ext>
            </a:extLst>
          </p:cNvPr>
          <p:cNvSpPr/>
          <p:nvPr/>
        </p:nvSpPr>
        <p:spPr>
          <a:xfrm>
            <a:off x="848412" y="2740259"/>
            <a:ext cx="10548594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4D6E2F3-F21B-C28D-B51D-EA043B0B9C38}"/>
              </a:ext>
            </a:extLst>
          </p:cNvPr>
          <p:cNvSpPr/>
          <p:nvPr/>
        </p:nvSpPr>
        <p:spPr>
          <a:xfrm>
            <a:off x="1031291" y="2831699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535BD62-0863-5837-113D-65D6490FAA9C}"/>
              </a:ext>
            </a:extLst>
          </p:cNvPr>
          <p:cNvSpPr/>
          <p:nvPr/>
        </p:nvSpPr>
        <p:spPr>
          <a:xfrm>
            <a:off x="1671371" y="2849987"/>
            <a:ext cx="8790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Operation</a:t>
            </a:r>
            <a:endParaRPr lang="en-US" sz="15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44670ACB-4DDC-55D5-BFB5-82D6AAF5A75C}"/>
              </a:ext>
            </a:extLst>
          </p:cNvPr>
          <p:cNvSpPr/>
          <p:nvPr/>
        </p:nvSpPr>
        <p:spPr>
          <a:xfrm>
            <a:off x="1671371" y="3106019"/>
            <a:ext cx="87904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Physical Layer (TS 38.214) and MAC Layer (TS 38.321)</a:t>
            </a:r>
            <a:endParaRPr lang="en-US" sz="11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179EB2F1-2B60-7729-22C0-B2F13CF826D9}"/>
              </a:ext>
            </a:extLst>
          </p:cNvPr>
          <p:cNvSpPr/>
          <p:nvPr/>
        </p:nvSpPr>
        <p:spPr>
          <a:xfrm>
            <a:off x="848411" y="3738115"/>
            <a:ext cx="1054859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9979D4A-FE68-7D88-7EF5-E6874C960471}"/>
              </a:ext>
            </a:extLst>
          </p:cNvPr>
          <p:cNvSpPr/>
          <p:nvPr/>
        </p:nvSpPr>
        <p:spPr>
          <a:xfrm>
            <a:off x="1031291" y="3829555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43C24F0-1F1A-75DC-9A30-9857FF1BD22C}"/>
              </a:ext>
            </a:extLst>
          </p:cNvPr>
          <p:cNvSpPr/>
          <p:nvPr/>
        </p:nvSpPr>
        <p:spPr>
          <a:xfrm>
            <a:off x="1671372" y="3847843"/>
            <a:ext cx="87904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Redundancy</a:t>
            </a:r>
            <a:endParaRPr lang="en-US" sz="15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B322767-0EB5-C592-182F-0794FE79805E}"/>
              </a:ext>
            </a:extLst>
          </p:cNvPr>
          <p:cNvSpPr/>
          <p:nvPr/>
        </p:nvSpPr>
        <p:spPr>
          <a:xfrm>
            <a:off x="1671372" y="4103875"/>
            <a:ext cx="87904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parity injection instead of simple retransmission</a:t>
            </a:r>
            <a:endParaRPr lang="en-US" sz="11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0423222E-C442-EBB2-BBAE-7BCA0EDCA61E}"/>
              </a:ext>
            </a:extLst>
          </p:cNvPr>
          <p:cNvSpPr/>
          <p:nvPr/>
        </p:nvSpPr>
        <p:spPr>
          <a:xfrm>
            <a:off x="848410" y="4723924"/>
            <a:ext cx="1054859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C5F91FF-C276-3F9F-2E97-F89A8F8D80F7}"/>
              </a:ext>
            </a:extLst>
          </p:cNvPr>
          <p:cNvSpPr/>
          <p:nvPr/>
        </p:nvSpPr>
        <p:spPr>
          <a:xfrm>
            <a:off x="1031290" y="4815364"/>
            <a:ext cx="5860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06ACDC8-02CE-4F2B-AE2F-6957BC052B3E}"/>
              </a:ext>
            </a:extLst>
          </p:cNvPr>
          <p:cNvSpPr/>
          <p:nvPr/>
        </p:nvSpPr>
        <p:spPr>
          <a:xfrm>
            <a:off x="1671371" y="4833652"/>
            <a:ext cx="87904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 Design</a:t>
            </a:r>
            <a:endParaRPr lang="en-US" sz="15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F80EEAEB-EEE8-65C4-09D8-FC2EEEEBAAA0}"/>
              </a:ext>
            </a:extLst>
          </p:cNvPr>
          <p:cNvSpPr/>
          <p:nvPr/>
        </p:nvSpPr>
        <p:spPr>
          <a:xfrm>
            <a:off x="1671371" y="5089684"/>
            <a:ext cx="87904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HARQ processes enable continuous data flow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4236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A2F1-4698-E62B-8626-C85FBAB4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236354E-F8A1-E4FB-80C7-74FE937EF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90C608E-9D6F-49A3-E62E-5468208164CD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1908A-5365-1F1C-CA7C-710CBA27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3343A-35A2-4994-B8F6-385C1C4923F2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7350DE1-AEFC-2B48-07CA-C238FE8F1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FE15980-8DE0-E3F5-9952-30896BED7278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F788EAC4-CB57-09AC-EAAB-A1092925CEEA}"/>
              </a:ext>
            </a:extLst>
          </p:cNvPr>
          <p:cNvSpPr/>
          <p:nvPr/>
        </p:nvSpPr>
        <p:spPr>
          <a:xfrm>
            <a:off x="0" y="-1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54B98F9-85BB-5084-160F-475EBF2D9791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HARQ In 5G NR Protocol Architecture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A66C355-D03A-9F80-822D-FC6736034798}"/>
              </a:ext>
            </a:extLst>
          </p:cNvPr>
          <p:cNvSpPr/>
          <p:nvPr/>
        </p:nvSpPr>
        <p:spPr>
          <a:xfrm>
            <a:off x="593702" y="2002467"/>
            <a:ext cx="4704160" cy="186938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2E0AC046-D518-F82F-685C-B7F6E214C800}"/>
              </a:ext>
            </a:extLst>
          </p:cNvPr>
          <p:cNvSpPr/>
          <p:nvPr/>
        </p:nvSpPr>
        <p:spPr>
          <a:xfrm>
            <a:off x="593703" y="4136940"/>
            <a:ext cx="4704159" cy="17850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FA1AE42E-0848-A31E-5D9E-6834A49C9A7D}"/>
              </a:ext>
            </a:extLst>
          </p:cNvPr>
          <p:cNvSpPr/>
          <p:nvPr/>
        </p:nvSpPr>
        <p:spPr>
          <a:xfrm>
            <a:off x="5952083" y="1986182"/>
            <a:ext cx="5152691" cy="8259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D956F180-CB99-6B17-9FF6-65B609060BE6}"/>
              </a:ext>
            </a:extLst>
          </p:cNvPr>
          <p:cNvSpPr/>
          <p:nvPr/>
        </p:nvSpPr>
        <p:spPr>
          <a:xfrm>
            <a:off x="5952083" y="2951954"/>
            <a:ext cx="5152691" cy="825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AFF1FC65-36AE-20C9-7A94-A35CA5633622}"/>
              </a:ext>
            </a:extLst>
          </p:cNvPr>
          <p:cNvSpPr/>
          <p:nvPr/>
        </p:nvSpPr>
        <p:spPr>
          <a:xfrm>
            <a:off x="5952083" y="3914609"/>
            <a:ext cx="5152691" cy="854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93296847-9F5E-BEE3-50E2-6C6BA843562C}"/>
              </a:ext>
            </a:extLst>
          </p:cNvPr>
          <p:cNvSpPr/>
          <p:nvPr/>
        </p:nvSpPr>
        <p:spPr>
          <a:xfrm>
            <a:off x="5952083" y="4905498"/>
            <a:ext cx="5152691" cy="93466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2F9579C-12E7-30EA-C7F8-2B5452F3050F}"/>
              </a:ext>
            </a:extLst>
          </p:cNvPr>
          <p:cNvSpPr/>
          <p:nvPr/>
        </p:nvSpPr>
        <p:spPr>
          <a:xfrm>
            <a:off x="888005" y="218626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Layer (TS 38.321)</a:t>
            </a:r>
            <a:endParaRPr lang="en-US" sz="14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59542C8-EF51-36E7-81A5-FDBD5565C16E}"/>
              </a:ext>
            </a:extLst>
          </p:cNvPr>
          <p:cNvSpPr/>
          <p:nvPr/>
        </p:nvSpPr>
        <p:spPr>
          <a:xfrm>
            <a:off x="979445" y="2602079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HARQ process allocation</a:t>
            </a:r>
            <a:endParaRPr lang="en-US" sz="14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F001358-DB99-93CB-2A47-454D7604E935}"/>
              </a:ext>
            </a:extLst>
          </p:cNvPr>
          <p:cNvSpPr/>
          <p:nvPr/>
        </p:nvSpPr>
        <p:spPr>
          <a:xfrm>
            <a:off x="979445" y="2868577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NDI management</a:t>
            </a:r>
            <a:endParaRPr lang="en-US" sz="14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376D8CE-B867-8A9B-B4EF-2B4925ACBD7E}"/>
              </a:ext>
            </a:extLst>
          </p:cNvPr>
          <p:cNvSpPr/>
          <p:nvPr/>
        </p:nvSpPr>
        <p:spPr>
          <a:xfrm>
            <a:off x="979445" y="3132503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timing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7D2BB31-6E00-9A2D-05D6-3521D9550413}"/>
              </a:ext>
            </a:extLst>
          </p:cNvPr>
          <p:cNvSpPr/>
          <p:nvPr/>
        </p:nvSpPr>
        <p:spPr>
          <a:xfrm>
            <a:off x="979445" y="3405987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Retransmission control</a:t>
            </a:r>
            <a:endParaRPr lang="en-US" sz="14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705A2DAC-8BC5-4D07-69D6-94B71F375AA8}"/>
              </a:ext>
            </a:extLst>
          </p:cNvPr>
          <p:cNvSpPr/>
          <p:nvPr/>
        </p:nvSpPr>
        <p:spPr>
          <a:xfrm>
            <a:off x="2620652" y="3880992"/>
            <a:ext cx="11312" cy="256929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  <a:tailEnd type="arrow"/>
          </a:ln>
        </p:spPr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BA701FA6-F39F-DAFA-4DEC-7B853B0BE4CE}"/>
              </a:ext>
            </a:extLst>
          </p:cNvPr>
          <p:cNvSpPr/>
          <p:nvPr/>
        </p:nvSpPr>
        <p:spPr>
          <a:xfrm>
            <a:off x="754396" y="42686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 (TS 38.214)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E69834-A772-F044-54E8-45998EF3633F}"/>
              </a:ext>
            </a:extLst>
          </p:cNvPr>
          <p:cNvSpPr/>
          <p:nvPr/>
        </p:nvSpPr>
        <p:spPr>
          <a:xfrm>
            <a:off x="845836" y="4650925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coding &amp; rate matching</a:t>
            </a:r>
            <a:endParaRPr lang="en-US" sz="14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693D1E3-8234-5E9F-0D3A-EA73C7B1D566}"/>
              </a:ext>
            </a:extLst>
          </p:cNvPr>
          <p:cNvSpPr/>
          <p:nvPr/>
        </p:nvSpPr>
        <p:spPr>
          <a:xfrm>
            <a:off x="845836" y="493843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selection</a:t>
            </a:r>
            <a:endParaRPr lang="en-US" sz="14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D590001-DFE6-6A47-A0FA-16923988F674}"/>
              </a:ext>
            </a:extLst>
          </p:cNvPr>
          <p:cNvSpPr/>
          <p:nvPr/>
        </p:nvSpPr>
        <p:spPr>
          <a:xfrm>
            <a:off x="845836" y="521272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combining</a:t>
            </a:r>
            <a:endParaRPr lang="en-US" sz="1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DA9BC2C-D65C-8BD1-4D9B-E860561E2FE9}"/>
              </a:ext>
            </a:extLst>
          </p:cNvPr>
          <p:cNvSpPr/>
          <p:nvPr/>
        </p:nvSpPr>
        <p:spPr>
          <a:xfrm>
            <a:off x="845836" y="5512451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ACK/NACK generation</a:t>
            </a:r>
            <a:endParaRPr lang="en-US" sz="14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A4E6197-F85A-C774-F9D3-C96CFF29CAB0}"/>
              </a:ext>
            </a:extLst>
          </p:cNvPr>
          <p:cNvSpPr/>
          <p:nvPr/>
        </p:nvSpPr>
        <p:spPr>
          <a:xfrm>
            <a:off x="5917913" y="15525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ARCHITECTURE?</a:t>
            </a:r>
            <a:endParaRPr lang="en-US" sz="2000" b="1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AB77003-CA43-AF9C-D093-E9D7F113571A}"/>
              </a:ext>
            </a:extLst>
          </p:cNvPr>
          <p:cNvSpPr/>
          <p:nvPr/>
        </p:nvSpPr>
        <p:spPr>
          <a:xfrm>
            <a:off x="6767974" y="2314189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62170DA9-ECA0-8347-DC89-868578C83BD3}"/>
              </a:ext>
            </a:extLst>
          </p:cNvPr>
          <p:cNvSpPr/>
          <p:nvPr/>
        </p:nvSpPr>
        <p:spPr>
          <a:xfrm>
            <a:off x="7225174" y="231418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HARQ processes minimize idle time</a:t>
            </a:r>
            <a:endParaRPr lang="en-US" sz="20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82D9E92-9852-272C-ED4C-A50DB08868F6}"/>
              </a:ext>
            </a:extLst>
          </p:cNvPr>
          <p:cNvSpPr/>
          <p:nvPr/>
        </p:nvSpPr>
        <p:spPr>
          <a:xfrm>
            <a:off x="6767974" y="3325805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72EB101A-0EB4-7F2E-A755-8849812A4708}"/>
              </a:ext>
            </a:extLst>
          </p:cNvPr>
          <p:cNvSpPr/>
          <p:nvPr/>
        </p:nvSpPr>
        <p:spPr>
          <a:xfrm>
            <a:off x="7225174" y="3325805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operation enables flexible scheduling</a:t>
            </a:r>
            <a:endParaRPr lang="en-US" sz="20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B2C33A42-CD64-B1C7-F402-1DF09B112575}"/>
              </a:ext>
            </a:extLst>
          </p:cNvPr>
          <p:cNvSpPr/>
          <p:nvPr/>
        </p:nvSpPr>
        <p:spPr>
          <a:xfrm>
            <a:off x="6767974" y="42883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EE77A619-4FC1-6B1C-91B8-50F527DF354A}"/>
              </a:ext>
            </a:extLst>
          </p:cNvPr>
          <p:cNvSpPr/>
          <p:nvPr/>
        </p:nvSpPr>
        <p:spPr>
          <a:xfrm>
            <a:off x="7225174" y="42883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eMBB, URLLC, and mMTC use cases</a:t>
            </a:r>
            <a:endParaRPr lang="en-US" sz="20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6B7A0A63-59AF-2D20-D84F-76D075D52B57}"/>
              </a:ext>
            </a:extLst>
          </p:cNvPr>
          <p:cNvSpPr/>
          <p:nvPr/>
        </p:nvSpPr>
        <p:spPr>
          <a:xfrm>
            <a:off x="6767974" y="5253475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F0BBDD34-7A82-6B7A-36DC-E13B34800D93}"/>
              </a:ext>
            </a:extLst>
          </p:cNvPr>
          <p:cNvSpPr/>
          <p:nvPr/>
        </p:nvSpPr>
        <p:spPr>
          <a:xfrm>
            <a:off x="7225174" y="5253475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high throughput with low latency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9000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817C-120A-5CC7-180B-12D161AD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815726C-7496-9671-602B-740BF01A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1537B37-628B-9647-804C-355D4068968B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A5DC0-BC5B-4556-0EE4-671DECE8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E8E73-4B57-026E-B636-D12204BA380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09F05-59A8-F46D-C275-EEBFD445746D}"/>
              </a:ext>
            </a:extLst>
          </p:cNvPr>
          <p:cNvSpPr txBox="1"/>
          <p:nvPr/>
        </p:nvSpPr>
        <p:spPr>
          <a:xfrm>
            <a:off x="108630" y="185600"/>
            <a:ext cx="76074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Layer Overview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3E2DF9E-65FD-659A-3832-120342A0A2D0}"/>
              </a:ext>
            </a:extLst>
          </p:cNvPr>
          <p:cNvSpPr/>
          <p:nvPr/>
        </p:nvSpPr>
        <p:spPr>
          <a:xfrm>
            <a:off x="754395" y="1489435"/>
            <a:ext cx="10774585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0B6F36F-E0AE-0610-FD88-A4226470FDDD}"/>
              </a:ext>
            </a:extLst>
          </p:cNvPr>
          <p:cNvSpPr/>
          <p:nvPr/>
        </p:nvSpPr>
        <p:spPr>
          <a:xfrm>
            <a:off x="1186835" y="162659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converts higher-layer data into radio signals and vice versa, handling transmission procedures, coding, modulation, and HARQ-related operations as specified in 3GPP TS 38.214.</a:t>
            </a:r>
            <a:endParaRPr lang="en-US" sz="13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EDD4A9C-8F8E-37DB-EC78-8FE5EFE07C6A}"/>
              </a:ext>
            </a:extLst>
          </p:cNvPr>
          <p:cNvSpPr/>
          <p:nvPr/>
        </p:nvSpPr>
        <p:spPr>
          <a:xfrm>
            <a:off x="754394" y="2723160"/>
            <a:ext cx="3110595" cy="11406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0E12E0E-F84F-84E9-4B58-3BFFA790404D}"/>
              </a:ext>
            </a:extLst>
          </p:cNvPr>
          <p:cNvSpPr/>
          <p:nvPr/>
        </p:nvSpPr>
        <p:spPr>
          <a:xfrm>
            <a:off x="754395" y="2723161"/>
            <a:ext cx="73152" cy="114064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7553040-D716-8C03-10DB-8E7ADCDB0B82}"/>
              </a:ext>
            </a:extLst>
          </p:cNvPr>
          <p:cNvSpPr/>
          <p:nvPr/>
        </p:nvSpPr>
        <p:spPr>
          <a:xfrm>
            <a:off x="937275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5D1180E-01C7-5C9F-ED1E-53D56CFD43CC}"/>
              </a:ext>
            </a:extLst>
          </p:cNvPr>
          <p:cNvSpPr/>
          <p:nvPr/>
        </p:nvSpPr>
        <p:spPr>
          <a:xfrm>
            <a:off x="1531635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Coding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44285E0-1882-AC51-B58F-22009840A323}"/>
              </a:ext>
            </a:extLst>
          </p:cNvPr>
          <p:cNvSpPr/>
          <p:nvPr/>
        </p:nvSpPr>
        <p:spPr>
          <a:xfrm>
            <a:off x="1531635" y="33741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encoding and rate matching</a:t>
            </a:r>
            <a:endParaRPr lang="en-US" sz="12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35AE4E7-3473-4D7B-A421-1F694846EA55}"/>
              </a:ext>
            </a:extLst>
          </p:cNvPr>
          <p:cNvSpPr/>
          <p:nvPr/>
        </p:nvSpPr>
        <p:spPr>
          <a:xfrm>
            <a:off x="754395" y="4103321"/>
            <a:ext cx="3142396" cy="11400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12282FC-CD45-7674-7C52-DD9DD9A6AB8A}"/>
              </a:ext>
            </a:extLst>
          </p:cNvPr>
          <p:cNvSpPr/>
          <p:nvPr/>
        </p:nvSpPr>
        <p:spPr>
          <a:xfrm>
            <a:off x="754395" y="4103322"/>
            <a:ext cx="96012" cy="114003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6763BBA-7DCB-089A-2D05-23A2F8F862FD}"/>
              </a:ext>
            </a:extLst>
          </p:cNvPr>
          <p:cNvSpPr/>
          <p:nvPr/>
        </p:nvSpPr>
        <p:spPr>
          <a:xfrm>
            <a:off x="937275" y="42404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4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B48A60D3-8750-807F-B0EE-209BC6C21DAB}"/>
              </a:ext>
            </a:extLst>
          </p:cNvPr>
          <p:cNvSpPr/>
          <p:nvPr/>
        </p:nvSpPr>
        <p:spPr>
          <a:xfrm>
            <a:off x="1531635" y="424048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 Procedures</a:t>
            </a:r>
            <a:endParaRPr lang="en-US" sz="16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CAC2D726-514E-9A30-FCA1-AFB95B282543}"/>
              </a:ext>
            </a:extLst>
          </p:cNvPr>
          <p:cNvSpPr/>
          <p:nvPr/>
        </p:nvSpPr>
        <p:spPr>
          <a:xfrm>
            <a:off x="1531635" y="478840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selection &amp; soft combining</a:t>
            </a:r>
            <a:endParaRPr lang="en-US" sz="12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1A50F06-5DD9-C13D-5BD5-E5A954CD5FC7}"/>
              </a:ext>
            </a:extLst>
          </p:cNvPr>
          <p:cNvSpPr/>
          <p:nvPr/>
        </p:nvSpPr>
        <p:spPr>
          <a:xfrm>
            <a:off x="4283068" y="2723161"/>
            <a:ext cx="3234902" cy="114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3CCFAB52-400D-F99A-82A3-524068D96D12}"/>
              </a:ext>
            </a:extLst>
          </p:cNvPr>
          <p:cNvSpPr/>
          <p:nvPr/>
        </p:nvSpPr>
        <p:spPr>
          <a:xfrm>
            <a:off x="4283068" y="2723161"/>
            <a:ext cx="73152" cy="1140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CFC889B-91A9-DF7C-52F8-E4148C7A6F7D}"/>
              </a:ext>
            </a:extLst>
          </p:cNvPr>
          <p:cNvSpPr/>
          <p:nvPr/>
        </p:nvSpPr>
        <p:spPr>
          <a:xfrm>
            <a:off x="4465948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4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02C69E7-40B3-2EDD-498C-C71BD4B73B14}"/>
              </a:ext>
            </a:extLst>
          </p:cNvPr>
          <p:cNvSpPr/>
          <p:nvPr/>
        </p:nvSpPr>
        <p:spPr>
          <a:xfrm>
            <a:off x="5060308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Modulation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5ABD50D-5B94-058E-73D1-3923E6482575}"/>
              </a:ext>
            </a:extLst>
          </p:cNvPr>
          <p:cNvSpPr/>
          <p:nvPr/>
        </p:nvSpPr>
        <p:spPr>
          <a:xfrm>
            <a:off x="5031839" y="335135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QPSK, 16QAM, 64QAM, 256QAM</a:t>
            </a:r>
            <a:endParaRPr lang="en-US" sz="12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133F889D-AA53-0376-5C8B-A55CBEDB2C83}"/>
              </a:ext>
            </a:extLst>
          </p:cNvPr>
          <p:cNvSpPr/>
          <p:nvPr/>
        </p:nvSpPr>
        <p:spPr>
          <a:xfrm>
            <a:off x="4322142" y="4102715"/>
            <a:ext cx="3195828" cy="114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A6894099-FBE2-C730-FCDD-AE442556FB6E}"/>
              </a:ext>
            </a:extLst>
          </p:cNvPr>
          <p:cNvSpPr/>
          <p:nvPr/>
        </p:nvSpPr>
        <p:spPr>
          <a:xfrm>
            <a:off x="4248990" y="4102714"/>
            <a:ext cx="73152" cy="114003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1BCDE712-754E-1803-57DB-C44E201D21D9}"/>
              </a:ext>
            </a:extLst>
          </p:cNvPr>
          <p:cNvSpPr/>
          <p:nvPr/>
        </p:nvSpPr>
        <p:spPr>
          <a:xfrm>
            <a:off x="4505022" y="42398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EE5F3C0C-18D5-17EB-9F36-6FB847A4ED06}"/>
              </a:ext>
            </a:extLst>
          </p:cNvPr>
          <p:cNvSpPr/>
          <p:nvPr/>
        </p:nvSpPr>
        <p:spPr>
          <a:xfrm>
            <a:off x="5099382" y="4239875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Generation</a:t>
            </a:r>
            <a:endParaRPr lang="en-US" sz="16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A9FB8BE-06A3-AB1E-E8FA-98ADFCCF440A}"/>
              </a:ext>
            </a:extLst>
          </p:cNvPr>
          <p:cNvSpPr/>
          <p:nvPr/>
        </p:nvSpPr>
        <p:spPr>
          <a:xfrm>
            <a:off x="5099382" y="474842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ACK/NACK decision</a:t>
            </a:r>
            <a:endParaRPr lang="en-US" sz="12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38373C39-8E1D-6936-3AB7-254613710A47}"/>
              </a:ext>
            </a:extLst>
          </p:cNvPr>
          <p:cNvSpPr/>
          <p:nvPr/>
        </p:nvSpPr>
        <p:spPr>
          <a:xfrm>
            <a:off x="8222058" y="2723160"/>
            <a:ext cx="3306922" cy="114064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138E1710-48D5-2504-95DE-36E9B2B4D0C4}"/>
              </a:ext>
            </a:extLst>
          </p:cNvPr>
          <p:cNvSpPr/>
          <p:nvPr/>
        </p:nvSpPr>
        <p:spPr>
          <a:xfrm>
            <a:off x="8222058" y="2723160"/>
            <a:ext cx="73152" cy="113383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6894444E-0A50-5AA6-70B1-8AA959056225}"/>
              </a:ext>
            </a:extLst>
          </p:cNvPr>
          <p:cNvSpPr/>
          <p:nvPr/>
        </p:nvSpPr>
        <p:spPr>
          <a:xfrm>
            <a:off x="8404938" y="28603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4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EEECBD6-6A75-0808-8074-F4D56F367792}"/>
              </a:ext>
            </a:extLst>
          </p:cNvPr>
          <p:cNvSpPr/>
          <p:nvPr/>
        </p:nvSpPr>
        <p:spPr>
          <a:xfrm>
            <a:off x="8999298" y="286032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Mapping</a:t>
            </a:r>
            <a:endParaRPr lang="en-US" sz="16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7932A48-C966-B314-7E37-5C72A2E51265}"/>
              </a:ext>
            </a:extLst>
          </p:cNvPr>
          <p:cNvSpPr/>
          <p:nvPr/>
        </p:nvSpPr>
        <p:spPr>
          <a:xfrm>
            <a:off x="8999298" y="3397501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Time-frequency allocation</a:t>
            </a:r>
            <a:endParaRPr lang="en-US" sz="1200" dirty="0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C883D6C-8AC1-4894-9EAE-8A8932443097}"/>
              </a:ext>
            </a:extLst>
          </p:cNvPr>
          <p:cNvSpPr/>
          <p:nvPr/>
        </p:nvSpPr>
        <p:spPr>
          <a:xfrm>
            <a:off x="8222057" y="4102715"/>
            <a:ext cx="3306921" cy="11286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76690C4F-95BB-2C58-18DA-3347288312E9}"/>
              </a:ext>
            </a:extLst>
          </p:cNvPr>
          <p:cNvSpPr/>
          <p:nvPr/>
        </p:nvSpPr>
        <p:spPr>
          <a:xfrm>
            <a:off x="8222058" y="4102715"/>
            <a:ext cx="73152" cy="1140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693D7721-6A69-C547-6759-84ED4927281A}"/>
              </a:ext>
            </a:extLst>
          </p:cNvPr>
          <p:cNvSpPr/>
          <p:nvPr/>
        </p:nvSpPr>
        <p:spPr>
          <a:xfrm>
            <a:off x="8404938" y="423987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◭</a:t>
            </a:r>
            <a:endParaRPr lang="en-US" sz="2400" dirty="0"/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2C8658D1-C88F-F7AE-D360-84B209D00CD9}"/>
              </a:ext>
            </a:extLst>
          </p:cNvPr>
          <p:cNvSpPr/>
          <p:nvPr/>
        </p:nvSpPr>
        <p:spPr>
          <a:xfrm>
            <a:off x="8999298" y="4239875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Numerology</a:t>
            </a:r>
            <a:endParaRPr lang="en-US" sz="16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BA4639F9-E303-7598-2F26-35BEBFA6FE7F}"/>
              </a:ext>
            </a:extLst>
          </p:cNvPr>
          <p:cNvSpPr/>
          <p:nvPr/>
        </p:nvSpPr>
        <p:spPr>
          <a:xfrm>
            <a:off x="9006837" y="474842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subcarrier spacing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710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1391-7A55-1B96-2B65-773E642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BFBF566-17FD-8938-6429-5D10694E0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82FD4ED-5A40-76F5-3342-BA1CBA66091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ADF4-5B87-CF3B-33A4-25D0C529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72F1E-FEC4-0D57-4D24-ABBDDEF099E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449E3-654E-AB7C-EB20-5E58F9849340}"/>
              </a:ext>
            </a:extLst>
          </p:cNvPr>
          <p:cNvSpPr txBox="1"/>
          <p:nvPr/>
        </p:nvSpPr>
        <p:spPr>
          <a:xfrm>
            <a:off x="108630" y="185600"/>
            <a:ext cx="76074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HARQ Process Architecture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70B5C2-69C4-56C9-7B7C-D9A802E42B7B}"/>
              </a:ext>
            </a:extLst>
          </p:cNvPr>
          <p:cNvSpPr/>
          <p:nvPr/>
        </p:nvSpPr>
        <p:spPr>
          <a:xfrm>
            <a:off x="1772710" y="32781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P0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6C78732-2525-3F35-4EE8-CB758A21C924}"/>
              </a:ext>
            </a:extLst>
          </p:cNvPr>
          <p:cNvSpPr/>
          <p:nvPr/>
        </p:nvSpPr>
        <p:spPr>
          <a:xfrm>
            <a:off x="3190030" y="32781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7AA62BA-AF97-8A3D-1278-DBDE96817AE1}"/>
              </a:ext>
            </a:extLst>
          </p:cNvPr>
          <p:cNvSpPr/>
          <p:nvPr/>
        </p:nvSpPr>
        <p:spPr>
          <a:xfrm>
            <a:off x="1772710" y="37353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P1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F388732-1C7D-363D-1B56-08FC2FBD6224}"/>
              </a:ext>
            </a:extLst>
          </p:cNvPr>
          <p:cNvSpPr/>
          <p:nvPr/>
        </p:nvSpPr>
        <p:spPr>
          <a:xfrm>
            <a:off x="3190030" y="37353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WAIT_ACK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AE037E8-CDF0-27CB-CBD2-E2F464DC371F}"/>
              </a:ext>
            </a:extLst>
          </p:cNvPr>
          <p:cNvSpPr/>
          <p:nvPr/>
        </p:nvSpPr>
        <p:spPr>
          <a:xfrm>
            <a:off x="1772710" y="41925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P2</a:t>
            </a:r>
            <a:endParaRPr lang="en-US" sz="1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B2168A8-8D27-C3CD-9450-A0B25FCAC16E}"/>
              </a:ext>
            </a:extLst>
          </p:cNvPr>
          <p:cNvSpPr/>
          <p:nvPr/>
        </p:nvSpPr>
        <p:spPr>
          <a:xfrm>
            <a:off x="3190030" y="41925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</a:t>
            </a:r>
            <a:endParaRPr lang="en-US" sz="11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96DCBD8-7608-4F9C-94BD-116CD96F088B}"/>
              </a:ext>
            </a:extLst>
          </p:cNvPr>
          <p:cNvSpPr/>
          <p:nvPr/>
        </p:nvSpPr>
        <p:spPr>
          <a:xfrm>
            <a:off x="1772710" y="46497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P3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0BA6C69-3A3D-3B4A-C3D8-78E223D7CF77}"/>
              </a:ext>
            </a:extLst>
          </p:cNvPr>
          <p:cNvSpPr/>
          <p:nvPr/>
        </p:nvSpPr>
        <p:spPr>
          <a:xfrm>
            <a:off x="3190030" y="46497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5A77418-CF40-CB32-3FD6-04604BC3A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641"/>
            <a:ext cx="12192000" cy="516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3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A379-C71A-AC85-CF07-48FD06A0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DD550C9-8D58-792A-73AF-40567D34D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044B42F-B37D-8D31-9657-4E8D03E4C469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7C602-A83E-AC9A-BECB-0E7193EE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33EAC66-8E64-83C0-0D17-0A567D88BF0A}"/>
              </a:ext>
            </a:extLst>
          </p:cNvPr>
          <p:cNvSpPr/>
          <p:nvPr/>
        </p:nvSpPr>
        <p:spPr>
          <a:xfrm>
            <a:off x="1772710" y="32781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P0</a:t>
            </a:r>
            <a:endParaRPr lang="en-US" sz="1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8828BCD-DA68-E564-FC45-B931EFA76843}"/>
              </a:ext>
            </a:extLst>
          </p:cNvPr>
          <p:cNvSpPr/>
          <p:nvPr/>
        </p:nvSpPr>
        <p:spPr>
          <a:xfrm>
            <a:off x="3190030" y="32781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5C7F9AD-AE29-2CD4-A428-BB16EF303730}"/>
              </a:ext>
            </a:extLst>
          </p:cNvPr>
          <p:cNvSpPr/>
          <p:nvPr/>
        </p:nvSpPr>
        <p:spPr>
          <a:xfrm>
            <a:off x="1772710" y="37353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P1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7E11F95-206D-953A-5369-6202BF66B2E6}"/>
              </a:ext>
            </a:extLst>
          </p:cNvPr>
          <p:cNvSpPr/>
          <p:nvPr/>
        </p:nvSpPr>
        <p:spPr>
          <a:xfrm>
            <a:off x="3190030" y="37353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WAIT_ACK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FE02092-B88D-3D99-816A-06B607330B14}"/>
              </a:ext>
            </a:extLst>
          </p:cNvPr>
          <p:cNvSpPr/>
          <p:nvPr/>
        </p:nvSpPr>
        <p:spPr>
          <a:xfrm>
            <a:off x="1772710" y="41925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P2</a:t>
            </a:r>
            <a:endParaRPr lang="en-US" sz="12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E038C4D-F906-DB9C-90EF-3B1156784CA5}"/>
              </a:ext>
            </a:extLst>
          </p:cNvPr>
          <p:cNvSpPr/>
          <p:nvPr/>
        </p:nvSpPr>
        <p:spPr>
          <a:xfrm>
            <a:off x="3190030" y="41925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</a:t>
            </a:r>
            <a:endParaRPr lang="en-US" sz="11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800A894-157F-3E90-A96E-BD30A5F35457}"/>
              </a:ext>
            </a:extLst>
          </p:cNvPr>
          <p:cNvSpPr/>
          <p:nvPr/>
        </p:nvSpPr>
        <p:spPr>
          <a:xfrm>
            <a:off x="1772710" y="464977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P3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6AD53C20-BC35-6550-46EB-B9D16EFA5C59}"/>
              </a:ext>
            </a:extLst>
          </p:cNvPr>
          <p:cNvSpPr/>
          <p:nvPr/>
        </p:nvSpPr>
        <p:spPr>
          <a:xfrm>
            <a:off x="3190030" y="464977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50BDED-8357-D4E0-4237-50A3A95C2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756" y="901147"/>
            <a:ext cx="9596487" cy="475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2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10B2-B8B5-197B-6666-B6D1C147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6F4B252-B185-BCDB-CC92-7AB2E55FD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FDD8719-4C9A-24E8-0341-733EED4EC579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CD95-9668-4303-67BF-C1117A20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6BEDD-5AB9-CE46-BDEA-042A3138CEAC}"/>
              </a:ext>
            </a:extLst>
          </p:cNvPr>
          <p:cNvSpPr txBox="1"/>
          <p:nvPr/>
        </p:nvSpPr>
        <p:spPr>
          <a:xfrm>
            <a:off x="0" y="11253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121AC-9F75-CED5-EC38-E7A53743D3AA}"/>
              </a:ext>
            </a:extLst>
          </p:cNvPr>
          <p:cNvSpPr txBox="1"/>
          <p:nvPr/>
        </p:nvSpPr>
        <p:spPr>
          <a:xfrm>
            <a:off x="431513" y="243897"/>
            <a:ext cx="7475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NDI : New Data Indicator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D80C43F-555B-D605-76FB-C198AB858A09}"/>
              </a:ext>
            </a:extLst>
          </p:cNvPr>
          <p:cNvSpPr/>
          <p:nvPr/>
        </p:nvSpPr>
        <p:spPr>
          <a:xfrm>
            <a:off x="485480" y="1397754"/>
            <a:ext cx="1126031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CCC4A3A-0CE4-4C2B-38D5-59F8269956E5}"/>
              </a:ext>
            </a:extLst>
          </p:cNvPr>
          <p:cNvSpPr/>
          <p:nvPr/>
        </p:nvSpPr>
        <p:spPr>
          <a:xfrm>
            <a:off x="668360" y="158063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 acts as the identity switch for a HARQ process, distinguishing a new Transport Block from a retransmission of an earlier one.</a:t>
            </a:r>
            <a:endParaRPr lang="en-US" sz="1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C4B17E6-6163-886E-3D70-A4DFFE786547}"/>
              </a:ext>
            </a:extLst>
          </p:cNvPr>
          <p:cNvSpPr/>
          <p:nvPr/>
        </p:nvSpPr>
        <p:spPr>
          <a:xfrm>
            <a:off x="1208831" y="256508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 TOGGLED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FDA118C1-54B5-C4F2-85F6-BDCF844879E8}"/>
              </a:ext>
            </a:extLst>
          </p:cNvPr>
          <p:cNvSpPr/>
          <p:nvPr/>
        </p:nvSpPr>
        <p:spPr>
          <a:xfrm>
            <a:off x="1208831" y="2930845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FA4A86D-4D28-F485-00FC-6A511055C06C}"/>
              </a:ext>
            </a:extLst>
          </p:cNvPr>
          <p:cNvSpPr/>
          <p:nvPr/>
        </p:nvSpPr>
        <p:spPr>
          <a:xfrm>
            <a:off x="1391711" y="3113725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Transport Block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Receiver resets combining buffer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Prepares to decode fresh data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identity changes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resets to 0</a:t>
            </a:r>
            <a:endParaRPr lang="en-US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510741D-1679-F488-441A-DDD9FDFB4FAC}"/>
              </a:ext>
            </a:extLst>
          </p:cNvPr>
          <p:cNvSpPr/>
          <p:nvPr/>
        </p:nvSpPr>
        <p:spPr>
          <a:xfrm>
            <a:off x="7136090" y="256508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 UNCHANGED</a:t>
            </a:r>
            <a:endParaRPr lang="en-US" sz="20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EB731CD-A67C-AFE4-039C-5CEDA80AEDA3}"/>
              </a:ext>
            </a:extLst>
          </p:cNvPr>
          <p:cNvSpPr/>
          <p:nvPr/>
        </p:nvSpPr>
        <p:spPr>
          <a:xfrm>
            <a:off x="7136090" y="2930845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A3363F8-D40A-4808-F1E9-A77D7D961AED}"/>
              </a:ext>
            </a:extLst>
          </p:cNvPr>
          <p:cNvSpPr/>
          <p:nvPr/>
        </p:nvSpPr>
        <p:spPr>
          <a:xfrm>
            <a:off x="7234129" y="3113725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Transport Block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Receiver performs soft combining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Merges with previous attempts</a:t>
            </a:r>
            <a:endParaRPr lang="en-US" dirty="0"/>
          </a:p>
          <a:p>
            <a:pPr>
              <a:buSzPct val="100000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RV increments for new parity</a:t>
            </a:r>
            <a:endParaRPr lang="en-US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CD703E88-0CCE-BAAD-4D02-9AE29D4B77E8}"/>
              </a:ext>
            </a:extLst>
          </p:cNvPr>
          <p:cNvSpPr/>
          <p:nvPr/>
        </p:nvSpPr>
        <p:spPr>
          <a:xfrm>
            <a:off x="485479" y="5666364"/>
            <a:ext cx="11260317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4741872-5696-3879-6229-FF8F10FFCCAB}"/>
              </a:ext>
            </a:extLst>
          </p:cNvPr>
          <p:cNvSpPr/>
          <p:nvPr/>
        </p:nvSpPr>
        <p:spPr>
          <a:xfrm>
            <a:off x="668360" y="5757804"/>
            <a:ext cx="1075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NDI ensures transmitter and receiver stay synchronized on data identity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438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F300-5BB5-399A-4D57-7DFB49AF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1C50921-84A8-D84F-6353-6BC367A6F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F446C3-244B-C021-D991-EE43253C7400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2FD67-DD06-2C27-2602-C349FDDE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17EDF-9F4F-24E5-6E78-6F840A985A3E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F0D3E-2B2D-19E1-E54F-3F42520FEBD2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RV Cycling : Progressive Redundancy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2621A9D-AD83-7C58-042D-9F23AEAE1B61}"/>
              </a:ext>
            </a:extLst>
          </p:cNvPr>
          <p:cNvSpPr/>
          <p:nvPr/>
        </p:nvSpPr>
        <p:spPr>
          <a:xfrm>
            <a:off x="608028" y="1763931"/>
            <a:ext cx="10949233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959BEFB-5598-1D0F-B6A4-19AE36AB400A}"/>
              </a:ext>
            </a:extLst>
          </p:cNvPr>
          <p:cNvSpPr/>
          <p:nvPr/>
        </p:nvSpPr>
        <p:spPr>
          <a:xfrm>
            <a:off x="790909" y="1901091"/>
            <a:ext cx="10681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Redundancy Version (RV) controls which coded bits are transmitted in each HARQ attempt. Instead of repeating the same bits, the system progressively injects new parity information with every retransmission.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C67DDD1-7FA6-D0D1-455D-0C012CE4EF67}"/>
              </a:ext>
            </a:extLst>
          </p:cNvPr>
          <p:cNvSpPr/>
          <p:nvPr/>
        </p:nvSpPr>
        <p:spPr>
          <a:xfrm>
            <a:off x="12481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RV=0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AFDFF1B-6E79-1E52-D4EE-8D6D1B14DBFE}"/>
              </a:ext>
            </a:extLst>
          </p:cNvPr>
          <p:cNvSpPr/>
          <p:nvPr/>
        </p:nvSpPr>
        <p:spPr>
          <a:xfrm>
            <a:off x="30769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RV=2</a:t>
            </a:r>
            <a:endParaRPr lang="en-US" sz="2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6023CC0-4055-6121-E036-F796094C3A27}"/>
              </a:ext>
            </a:extLst>
          </p:cNvPr>
          <p:cNvSpPr/>
          <p:nvPr/>
        </p:nvSpPr>
        <p:spPr>
          <a:xfrm>
            <a:off x="49057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RV=3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96B2782-7ACB-7B5C-65E8-25159413AAA1}"/>
              </a:ext>
            </a:extLst>
          </p:cNvPr>
          <p:cNvSpPr/>
          <p:nvPr/>
        </p:nvSpPr>
        <p:spPr>
          <a:xfrm>
            <a:off x="67345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RV=1</a:t>
            </a:r>
            <a:endParaRPr lang="en-US" sz="20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DB075CAD-68B4-96BF-7E5A-4448078C1E86}"/>
              </a:ext>
            </a:extLst>
          </p:cNvPr>
          <p:cNvSpPr/>
          <p:nvPr/>
        </p:nvSpPr>
        <p:spPr>
          <a:xfrm>
            <a:off x="608029" y="4507131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1C90CC4-A7FB-F604-E220-69ACC6F127E7}"/>
              </a:ext>
            </a:extLst>
          </p:cNvPr>
          <p:cNvSpPr/>
          <p:nvPr/>
        </p:nvSpPr>
        <p:spPr>
          <a:xfrm>
            <a:off x="790909" y="4575711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8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C9038B47-C50B-F31A-FF77-D3F5D6EBE333}"/>
              </a:ext>
            </a:extLst>
          </p:cNvPr>
          <p:cNvSpPr/>
          <p:nvPr/>
        </p:nvSpPr>
        <p:spPr>
          <a:xfrm>
            <a:off x="1339549" y="457571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retransmission adds NEW decoding information</a:t>
            </a:r>
            <a:endParaRPr lang="en-US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4F52F6FC-3B45-45D6-2213-BA867133EAA0}"/>
              </a:ext>
            </a:extLst>
          </p:cNvPr>
          <p:cNvSpPr/>
          <p:nvPr/>
        </p:nvSpPr>
        <p:spPr>
          <a:xfrm>
            <a:off x="608029" y="4982619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CCACDB43-9F6A-E506-A348-4713FC8D6DF2}"/>
              </a:ext>
            </a:extLst>
          </p:cNvPr>
          <p:cNvSpPr/>
          <p:nvPr/>
        </p:nvSpPr>
        <p:spPr>
          <a:xfrm>
            <a:off x="790909" y="5051199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83F56C74-0445-10C2-A635-11785FE09032}"/>
              </a:ext>
            </a:extLst>
          </p:cNvPr>
          <p:cNvSpPr/>
          <p:nvPr/>
        </p:nvSpPr>
        <p:spPr>
          <a:xfrm>
            <a:off x="1339549" y="505119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bandwidth on blind repetition</a:t>
            </a:r>
            <a:endParaRPr lang="en-US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C121CF67-7422-5899-6BE1-589914B8211A}"/>
              </a:ext>
            </a:extLst>
          </p:cNvPr>
          <p:cNvSpPr/>
          <p:nvPr/>
        </p:nvSpPr>
        <p:spPr>
          <a:xfrm>
            <a:off x="608029" y="5458107"/>
            <a:ext cx="10949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EA07EF50-D644-DDFC-7017-E85E1D223863}"/>
              </a:ext>
            </a:extLst>
          </p:cNvPr>
          <p:cNvSpPr/>
          <p:nvPr/>
        </p:nvSpPr>
        <p:spPr>
          <a:xfrm>
            <a:off x="790909" y="552668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BAB5788A-59D0-BE13-36B5-4E4FDA1D1DF9}"/>
              </a:ext>
            </a:extLst>
          </p:cNvPr>
          <p:cNvSpPr/>
          <p:nvPr/>
        </p:nvSpPr>
        <p:spPr>
          <a:xfrm>
            <a:off x="1339549" y="552668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refinement increases success probability</a:t>
            </a:r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8F3E129-C4CD-5B30-522B-1A9A79C83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29" y="2513738"/>
            <a:ext cx="10949232" cy="191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6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4756-AB84-4337-71DD-51581EA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139D0B7-4064-6EDF-2233-A363199A1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5EC56E1-9DA7-A106-9A5B-0CFFCBCB9A31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6A1C2-D26A-E428-7F2C-DFEA74EB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C97FF-C548-BE6B-8D3D-D2E6565196F9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B914C-E260-9679-B2C2-9F96FFA35054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ACK/NACK : Closed – Loop Control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58CD50A-9D32-D556-7E8D-9D96C26965CD}"/>
              </a:ext>
            </a:extLst>
          </p:cNvPr>
          <p:cNvSpPr/>
          <p:nvPr/>
        </p:nvSpPr>
        <p:spPr>
          <a:xfrm>
            <a:off x="12481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RV=0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E5861CCF-6B0D-8F3D-367D-11A6F526A975}"/>
              </a:ext>
            </a:extLst>
          </p:cNvPr>
          <p:cNvSpPr/>
          <p:nvPr/>
        </p:nvSpPr>
        <p:spPr>
          <a:xfrm>
            <a:off x="30769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RV=2</a:t>
            </a:r>
            <a:endParaRPr lang="en-US" sz="2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6DE33DE-CE05-7945-5AD4-76E6C0F53279}"/>
              </a:ext>
            </a:extLst>
          </p:cNvPr>
          <p:cNvSpPr/>
          <p:nvPr/>
        </p:nvSpPr>
        <p:spPr>
          <a:xfrm>
            <a:off x="49057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RV=3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76C9C9E-EF0A-766A-E00C-596B1DCEC636}"/>
              </a:ext>
            </a:extLst>
          </p:cNvPr>
          <p:cNvSpPr/>
          <p:nvPr/>
        </p:nvSpPr>
        <p:spPr>
          <a:xfrm>
            <a:off x="6734509" y="31355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RV=1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CB5E27-7ED4-0165-41E3-E28652520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643"/>
            <a:ext cx="12192000" cy="52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7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4EE9-5376-C4FC-6142-BC187B6C6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AD9FCF2-38FF-609C-20FE-343D267D9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76D9CE7-99E0-DD93-87E3-D0B8E926EEE6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28B46-91F5-F780-902D-85D42BB5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F3F4F-7D39-FE1F-082E-441745E841D8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4FCE50-AF85-3EF2-983D-516853467800}"/>
              </a:ext>
            </a:extLst>
          </p:cNvPr>
          <p:cNvSpPr txBox="1"/>
          <p:nvPr/>
        </p:nvSpPr>
        <p:spPr>
          <a:xfrm>
            <a:off x="88428" y="172083"/>
            <a:ext cx="99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 Combining : Accumulating Reliability</a:t>
            </a: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5724F273-FAD9-368A-9B09-B5158795E3BF}"/>
              </a:ext>
            </a:extLst>
          </p:cNvPr>
          <p:cNvSpPr/>
          <p:nvPr/>
        </p:nvSpPr>
        <p:spPr>
          <a:xfrm>
            <a:off x="754395" y="1449873"/>
            <a:ext cx="10699171" cy="81500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4DF299C1-EEAA-5DB3-95C1-A500AB892142}"/>
              </a:ext>
            </a:extLst>
          </p:cNvPr>
          <p:cNvSpPr/>
          <p:nvPr/>
        </p:nvSpPr>
        <p:spPr>
          <a:xfrm>
            <a:off x="937276" y="163275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discarding failed transmissions, the receiver stores probability-level information (Log-Likelihood Ratios) from each attempt and merges it with new information from retransmissions. With each combining step, confidence increases.</a:t>
            </a:r>
            <a:endParaRPr lang="en-US" sz="16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6FB8170B-9929-906A-6B5C-99D673D82EA2}"/>
              </a:ext>
            </a:extLst>
          </p:cNvPr>
          <p:cNvSpPr/>
          <p:nvPr/>
        </p:nvSpPr>
        <p:spPr>
          <a:xfrm>
            <a:off x="1847653" y="240999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INCREASE WITH EACH RETRANSMISSION</a:t>
            </a:r>
            <a:endParaRPr lang="en-US" sz="16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6CB45748-2A7C-D7C5-0A93-9216427E4ECA}"/>
              </a:ext>
            </a:extLst>
          </p:cNvPr>
          <p:cNvSpPr/>
          <p:nvPr/>
        </p:nvSpPr>
        <p:spPr>
          <a:xfrm>
            <a:off x="269682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1</a:t>
            </a:r>
            <a:endParaRPr lang="en-US" sz="140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17D2FE65-6899-E29F-3A53-087A88D9D1D0}"/>
              </a:ext>
            </a:extLst>
          </p:cNvPr>
          <p:cNvSpPr/>
          <p:nvPr/>
        </p:nvSpPr>
        <p:spPr>
          <a:xfrm>
            <a:off x="2879704" y="4205213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761DC2F3-F172-69E1-6F8A-8FACB149DAFE}"/>
              </a:ext>
            </a:extLst>
          </p:cNvPr>
          <p:cNvSpPr/>
          <p:nvPr/>
        </p:nvSpPr>
        <p:spPr>
          <a:xfrm>
            <a:off x="2879704" y="3976613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497556D7-038A-88EF-EB43-D5494B3D57E0}"/>
              </a:ext>
            </a:extLst>
          </p:cNvPr>
          <p:cNvSpPr/>
          <p:nvPr/>
        </p:nvSpPr>
        <p:spPr>
          <a:xfrm>
            <a:off x="269682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60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3CE6654A-8BEE-0DE3-EE3F-E5D2394A4FAD}"/>
              </a:ext>
            </a:extLst>
          </p:cNvPr>
          <p:cNvSpPr/>
          <p:nvPr/>
        </p:nvSpPr>
        <p:spPr>
          <a:xfrm>
            <a:off x="397698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D782AC7E-D106-8409-D6AF-2ECD6E3DC2A6}"/>
              </a:ext>
            </a:extLst>
          </p:cNvPr>
          <p:cNvSpPr/>
          <p:nvPr/>
        </p:nvSpPr>
        <p:spPr>
          <a:xfrm>
            <a:off x="443418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2</a:t>
            </a:r>
            <a:endParaRPr lang="en-US" sz="14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98ACA0AC-8B79-7886-588A-14F899763201}"/>
              </a:ext>
            </a:extLst>
          </p:cNvPr>
          <p:cNvSpPr/>
          <p:nvPr/>
        </p:nvSpPr>
        <p:spPr>
          <a:xfrm>
            <a:off x="4617064" y="42052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54348167-01C6-918A-0CD0-7D5821E4935D}"/>
              </a:ext>
            </a:extLst>
          </p:cNvPr>
          <p:cNvSpPr/>
          <p:nvPr/>
        </p:nvSpPr>
        <p:spPr>
          <a:xfrm>
            <a:off x="4617064" y="39766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FE9D75BA-7A2F-F1A9-AAB4-E3508F90D0E9}"/>
              </a:ext>
            </a:extLst>
          </p:cNvPr>
          <p:cNvSpPr/>
          <p:nvPr/>
        </p:nvSpPr>
        <p:spPr>
          <a:xfrm>
            <a:off x="4617064" y="3748013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60653899-A003-3104-E98B-DE79EA2DCB59}"/>
              </a:ext>
            </a:extLst>
          </p:cNvPr>
          <p:cNvSpPr/>
          <p:nvPr/>
        </p:nvSpPr>
        <p:spPr>
          <a:xfrm>
            <a:off x="443418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6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2B1A0728-FD42-5DDF-4B1C-C5B8373BD3E7}"/>
              </a:ext>
            </a:extLst>
          </p:cNvPr>
          <p:cNvSpPr/>
          <p:nvPr/>
        </p:nvSpPr>
        <p:spPr>
          <a:xfrm>
            <a:off x="571434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85B410C1-4F48-BA82-E27D-9F62EE0FB985}"/>
              </a:ext>
            </a:extLst>
          </p:cNvPr>
          <p:cNvSpPr/>
          <p:nvPr/>
        </p:nvSpPr>
        <p:spPr>
          <a:xfrm>
            <a:off x="6171544" y="3199373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3</a:t>
            </a:r>
            <a:endParaRPr lang="en-US" sz="140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AC287034-C743-8C1C-0484-EA1649125C1A}"/>
              </a:ext>
            </a:extLst>
          </p:cNvPr>
          <p:cNvSpPr/>
          <p:nvPr/>
        </p:nvSpPr>
        <p:spPr>
          <a:xfrm>
            <a:off x="6354424" y="42052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83B397B5-D147-7B4D-B944-1D2042F47170}"/>
              </a:ext>
            </a:extLst>
          </p:cNvPr>
          <p:cNvSpPr/>
          <p:nvPr/>
        </p:nvSpPr>
        <p:spPr>
          <a:xfrm>
            <a:off x="6354424" y="39766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7" name="Shape 19">
            <a:extLst>
              <a:ext uri="{FF2B5EF4-FFF2-40B4-BE49-F238E27FC236}">
                <a16:creationId xmlns:a16="http://schemas.microsoft.com/office/drawing/2014/main" id="{048ABF85-3095-F645-6692-E1A9B4D704C5}"/>
              </a:ext>
            </a:extLst>
          </p:cNvPr>
          <p:cNvSpPr/>
          <p:nvPr/>
        </p:nvSpPr>
        <p:spPr>
          <a:xfrm>
            <a:off x="6354424" y="37480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AB1A6F2E-C55F-1E0D-D3C3-5771E3A57038}"/>
              </a:ext>
            </a:extLst>
          </p:cNvPr>
          <p:cNvSpPr/>
          <p:nvPr/>
        </p:nvSpPr>
        <p:spPr>
          <a:xfrm>
            <a:off x="6354424" y="3519413"/>
            <a:ext cx="822960" cy="18288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10549B05-9654-7795-8744-D945AD35F038}"/>
              </a:ext>
            </a:extLst>
          </p:cNvPr>
          <p:cNvSpPr/>
          <p:nvPr/>
        </p:nvSpPr>
        <p:spPr>
          <a:xfrm>
            <a:off x="617154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35AA652A-201B-E069-9CE9-FA8D0194C689}"/>
              </a:ext>
            </a:extLst>
          </p:cNvPr>
          <p:cNvSpPr/>
          <p:nvPr/>
        </p:nvSpPr>
        <p:spPr>
          <a:xfrm>
            <a:off x="7451704" y="3839453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41D205C0-726E-2693-FCE2-469743242AD7}"/>
              </a:ext>
            </a:extLst>
          </p:cNvPr>
          <p:cNvSpPr/>
          <p:nvPr/>
        </p:nvSpPr>
        <p:spPr>
          <a:xfrm>
            <a:off x="7908904" y="3076849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4</a:t>
            </a:r>
            <a:endParaRPr lang="en-US" sz="1400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E27CA916-7BB9-4843-857F-40E1CA8B694C}"/>
              </a:ext>
            </a:extLst>
          </p:cNvPr>
          <p:cNvSpPr/>
          <p:nvPr/>
        </p:nvSpPr>
        <p:spPr>
          <a:xfrm>
            <a:off x="8091784" y="42052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AE881BBF-8DBF-63F8-0ACE-8AD42AEEBE40}"/>
              </a:ext>
            </a:extLst>
          </p:cNvPr>
          <p:cNvSpPr/>
          <p:nvPr/>
        </p:nvSpPr>
        <p:spPr>
          <a:xfrm>
            <a:off x="8091784" y="39766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70E7E85D-131D-44BD-806A-523716413F37}"/>
              </a:ext>
            </a:extLst>
          </p:cNvPr>
          <p:cNvSpPr/>
          <p:nvPr/>
        </p:nvSpPr>
        <p:spPr>
          <a:xfrm>
            <a:off x="8091784" y="37480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35F5304A-6E16-9EFC-CDD5-A303638B7EDA}"/>
              </a:ext>
            </a:extLst>
          </p:cNvPr>
          <p:cNvSpPr/>
          <p:nvPr/>
        </p:nvSpPr>
        <p:spPr>
          <a:xfrm>
            <a:off x="8091784" y="35194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725037CF-7E54-3B07-2D01-0E0DF44B4F52}"/>
              </a:ext>
            </a:extLst>
          </p:cNvPr>
          <p:cNvSpPr/>
          <p:nvPr/>
        </p:nvSpPr>
        <p:spPr>
          <a:xfrm>
            <a:off x="8091784" y="3290813"/>
            <a:ext cx="82296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9F9F9978-5690-A3CB-E912-A49042FF8F52}"/>
              </a:ext>
            </a:extLst>
          </p:cNvPr>
          <p:cNvSpPr/>
          <p:nvPr/>
        </p:nvSpPr>
        <p:spPr>
          <a:xfrm>
            <a:off x="7908904" y="4388093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600" dirty="0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FA1B9A2B-07E4-1987-B6B4-65682A579B8A}"/>
              </a:ext>
            </a:extLst>
          </p:cNvPr>
          <p:cNvSpPr/>
          <p:nvPr/>
        </p:nvSpPr>
        <p:spPr>
          <a:xfrm>
            <a:off x="937275" y="516281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transmission contributes new knowledge</a:t>
            </a:r>
            <a:endParaRPr lang="en-US" sz="140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D2262176-AB9D-1FB0-D02D-3F6739B6A585}"/>
              </a:ext>
            </a:extLst>
          </p:cNvPr>
          <p:cNvSpPr/>
          <p:nvPr/>
        </p:nvSpPr>
        <p:spPr>
          <a:xfrm>
            <a:off x="937275" y="543713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information accumulates in soft buffer</a:t>
            </a:r>
            <a:endParaRPr lang="en-US" sz="140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24BBA4B1-9865-0810-75EF-EC1B13F035AC}"/>
              </a:ext>
            </a:extLst>
          </p:cNvPr>
          <p:cNvSpPr/>
          <p:nvPr/>
        </p:nvSpPr>
        <p:spPr>
          <a:xfrm>
            <a:off x="937275" y="571145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redundancy ensures efficient use of retransmissions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637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D60A-D5A7-00DC-28A8-72F94DE3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0848A70-D0E6-8EDC-0B84-EC15F95B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0FA9F47-250F-994E-6865-C9C15D3DC97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2E5FF-39F7-D8CF-584F-17814177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3EC2D-7CE5-F1DE-B2B0-53F329AC2AA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6DA3F36-9022-5619-091B-E93BADBC618B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EF33C4D-3174-2B9B-5011-0C9ED8DBE42B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0CF18BF0-997F-F629-9044-459171A24E2B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D76D9B7-2CB1-8F10-2CC4-5116D8DDFB08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4D4197-BD9A-F470-8F6F-3D67AD73F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291"/>
            <a:ext cx="12192000" cy="639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3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31E1-9D37-854B-C034-BF87DECF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F7C2D51-60D9-14CD-89CB-8E6E399FE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92F322E-ECD5-5C2B-D95E-A447D630530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1F98-55B6-7403-3B8B-F9700542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70F3A-EEF7-3C69-3DAC-7B0BC7AF1C8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02DD0-BFA2-E5E6-B01C-65C4193006FE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C5E22-9A61-3A02-D872-D2DD907F9373}"/>
              </a:ext>
            </a:extLst>
          </p:cNvPr>
          <p:cNvSpPr txBox="1"/>
          <p:nvPr/>
        </p:nvSpPr>
        <p:spPr>
          <a:xfrm>
            <a:off x="235670" y="185600"/>
            <a:ext cx="10859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Retransmission Logic &amp; Failure Resolution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D791B5-3765-CF27-0F7B-AA73E1CEA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6734"/>
            <a:ext cx="12192000" cy="523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7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7418-BD11-C0FA-E143-237E78551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576360B-2A6D-178F-0D11-BECCDBB84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0309314-2954-091C-6337-951992A97CDE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FBDBB-F38E-E17D-2CCD-0ABDED80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50182-AFA6-EB94-577E-ADB1F39B4C39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255B8-3BD8-3B7C-E401-0A14C31B5776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92A18-D133-35A9-AF33-C13BBAD67C6B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04C75EE-AB59-A70D-2D1D-D72897FFACBF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200" i="1" dirty="0">
              <a:solidFill>
                <a:schemeClr val="bg1"/>
              </a:solidFill>
            </a:endParaRPr>
          </a:p>
          <a:p>
            <a:r>
              <a:rPr lang="en-IN" sz="1200" i="1" dirty="0">
                <a:solidFill>
                  <a:schemeClr val="bg1"/>
                </a:solidFill>
              </a:rPr>
              <a:t>// HARQ Process Simulation - TS 38.321 §5.4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#include &lt;iostream&gt;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&lt;vector&gt;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</a:t>
            </a:r>
            <a:r>
              <a:rPr lang="en-IN" sz="1200" dirty="0" err="1">
                <a:solidFill>
                  <a:schemeClr val="bg1"/>
                </a:solidFill>
              </a:rPr>
              <a:t>cstdint</a:t>
            </a:r>
            <a:r>
              <a:rPr lang="en-IN" sz="1200" dirty="0">
                <a:solidFill>
                  <a:schemeClr val="bg1"/>
                </a:solidFill>
              </a:rPr>
              <a:t>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&lt;string&gt;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&lt;array&gt;</a:t>
            </a:r>
          </a:p>
          <a:p>
            <a:r>
              <a:rPr lang="en-IN" sz="1200" dirty="0">
                <a:solidFill>
                  <a:schemeClr val="bg1"/>
                </a:solidFill>
              </a:rPr>
              <a:t>#include &lt;random&gt;</a:t>
            </a:r>
          </a:p>
          <a:p>
            <a:br>
              <a:rPr lang="en-IN" sz="1200" dirty="0">
                <a:solidFill>
                  <a:schemeClr val="bg1"/>
                </a:solidFill>
              </a:rPr>
            </a:b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struct </a:t>
            </a:r>
            <a:r>
              <a:rPr lang="en-IN" sz="1200" b="1" dirty="0" err="1">
                <a:solidFill>
                  <a:schemeClr val="bg1"/>
                </a:solidFill>
              </a:rPr>
              <a:t>HARQProcess</a:t>
            </a:r>
            <a:r>
              <a:rPr lang="en-IN" sz="1200" dirty="0">
                <a:solidFill>
                  <a:schemeClr val="bg1"/>
                </a:solidFill>
              </a:rPr>
              <a:t> {</a:t>
            </a: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id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bool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ndi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false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r>
              <a:rPr lang="en-IN" sz="1200" i="1" dirty="0">
                <a:solidFill>
                  <a:schemeClr val="bg1"/>
                </a:solidFill>
              </a:rPr>
              <a:t> // New Data Indicator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rv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0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r>
              <a:rPr lang="en-IN" sz="1200" i="1" dirty="0">
                <a:solidFill>
                  <a:schemeClr val="bg1"/>
                </a:solidFill>
              </a:rPr>
              <a:t>       // Redundancy Version (0,2,3,1 cycle)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retx_count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0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max_retx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4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bool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active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b="1" dirty="0">
                <a:solidFill>
                  <a:schemeClr val="bg1"/>
                </a:solidFill>
              </a:rPr>
              <a:t>=</a:t>
            </a:r>
            <a:r>
              <a:rPr lang="en-IN" sz="1200" dirty="0">
                <a:solidFill>
                  <a:schemeClr val="bg1"/>
                </a:solidFill>
              </a:rPr>
              <a:t> false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std</a:t>
            </a:r>
            <a:r>
              <a:rPr lang="en-IN" sz="1200" b="1" dirty="0">
                <a:solidFill>
                  <a:schemeClr val="bg1"/>
                </a:solidFill>
              </a:rPr>
              <a:t>::string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>
                <a:solidFill>
                  <a:schemeClr val="bg1"/>
                </a:solidFill>
              </a:rPr>
              <a:t>data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    </a:t>
            </a:r>
            <a:r>
              <a:rPr lang="en-IN" sz="1200" i="1" dirty="0">
                <a:solidFill>
                  <a:schemeClr val="bg1"/>
                </a:solidFill>
              </a:rPr>
              <a:t>static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const</a:t>
            </a:r>
            <a:r>
              <a:rPr lang="en-IN" sz="1200" dirty="0">
                <a:solidFill>
                  <a:schemeClr val="bg1"/>
                </a:solidFill>
              </a:rPr>
              <a:t> std</a:t>
            </a:r>
            <a:r>
              <a:rPr lang="en-IN" sz="1200" b="1" dirty="0">
                <a:solidFill>
                  <a:schemeClr val="bg1"/>
                </a:solidFill>
              </a:rPr>
              <a:t>::array&lt;</a:t>
            </a:r>
            <a:r>
              <a:rPr lang="en-IN" sz="1200" i="1" dirty="0">
                <a:solidFill>
                  <a:schemeClr val="bg1"/>
                </a:solidFill>
              </a:rPr>
              <a:t>int</a:t>
            </a:r>
            <a:r>
              <a:rPr lang="en-IN" sz="1200" b="1" dirty="0">
                <a:solidFill>
                  <a:schemeClr val="bg1"/>
                </a:solidFill>
              </a:rPr>
              <a:t>,</a:t>
            </a:r>
            <a:r>
              <a:rPr lang="en-IN" sz="1200" dirty="0">
                <a:solidFill>
                  <a:schemeClr val="bg1"/>
                </a:solidFill>
              </a:rPr>
              <a:t> 4</a:t>
            </a:r>
            <a:r>
              <a:rPr lang="en-IN" sz="1200" b="1" dirty="0">
                <a:solidFill>
                  <a:schemeClr val="bg1"/>
                </a:solidFill>
              </a:rPr>
              <a:t>&gt;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i="1" dirty="0" err="1">
                <a:solidFill>
                  <a:schemeClr val="bg1"/>
                </a:solidFill>
              </a:rPr>
              <a:t>rv_sequence</a:t>
            </a:r>
            <a:r>
              <a:rPr lang="en-IN" sz="1200" b="1" dirty="0">
                <a:solidFill>
                  <a:schemeClr val="bg1"/>
                </a:solidFill>
              </a:rPr>
              <a:t>;</a:t>
            </a:r>
            <a:endParaRPr lang="en-IN" sz="1200" dirty="0">
              <a:solidFill>
                <a:schemeClr val="bg1"/>
              </a:solidFill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D003470-ADC9-D704-D353-4C911A84FD22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E5A5A36-B49A-9C7C-5D82-91EE8B395920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D3EB2B5-BC09-90B3-C471-0E557AD1C353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AC4C514-4834-C6D0-F5F9-74812749ECD6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CAE869E-4087-674E-18D9-D4849443B1F0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C0D0066B-64C1-F78F-2ED5-EA481C16555F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A3F2D-9E84-F6D5-0122-0AA845D042F5}"/>
              </a:ext>
            </a:extLst>
          </p:cNvPr>
          <p:cNvSpPr txBox="1"/>
          <p:nvPr/>
        </p:nvSpPr>
        <p:spPr>
          <a:xfrm>
            <a:off x="7809733" y="3073713"/>
            <a:ext cx="2730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/>
                </a:solidFill>
              </a:rPr>
              <a:t>HARQ ID: 1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NDI: 0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RV: 0</a:t>
            </a:r>
          </a:p>
          <a:p>
            <a:r>
              <a:rPr lang="en-IN" sz="1600" b="1" dirty="0" err="1">
                <a:solidFill>
                  <a:schemeClr val="accent6"/>
                </a:solidFill>
              </a:rPr>
              <a:t>Retx</a:t>
            </a:r>
            <a:r>
              <a:rPr lang="en-IN" sz="1600" b="1" dirty="0">
                <a:solidFill>
                  <a:schemeClr val="accent6"/>
                </a:solidFill>
              </a:rPr>
              <a:t> Count: 0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98559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0584-AE1F-9658-1A23-B427908B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8E84631-0681-9FE9-9979-F10E4A89C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C2F1D08-D611-93D0-9317-0DDD892AD40B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8298-F983-13FD-2F73-5B8E0138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BE038-C796-0337-A9F8-1AC11FCF7BA5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D0918-A5AC-E4FF-464A-B1B2D8DDAC4D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08C09-D5CA-C47E-74F3-C1B5E6CE09B6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790DAF4-21C3-C643-D638-0CFDC466B7D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void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</a:t>
            </a:r>
            <a:r>
              <a:rPr lang="en-IN" sz="1400" i="1" dirty="0" err="1">
                <a:solidFill>
                  <a:schemeClr val="bg1"/>
                </a:solidFill>
              </a:rPr>
              <a:t>const</a:t>
            </a:r>
            <a:r>
              <a:rPr lang="en-IN" sz="1400" dirty="0">
                <a:solidFill>
                  <a:schemeClr val="bg1"/>
                </a:solidFill>
              </a:rPr>
              <a:t> std</a:t>
            </a:r>
            <a:r>
              <a:rPr lang="en-IN" sz="1400" b="1" dirty="0">
                <a:solidFill>
                  <a:schemeClr val="bg1"/>
                </a:solidFill>
              </a:rPr>
              <a:t>::string</a:t>
            </a:r>
            <a:r>
              <a:rPr lang="en-IN" sz="1400" i="1" dirty="0">
                <a:solidFill>
                  <a:schemeClr val="bg1"/>
                </a:solidFill>
              </a:rPr>
              <a:t>&amp;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d</a:t>
            </a:r>
            <a:r>
              <a:rPr lang="en-IN" sz="1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>
                <a:solidFill>
                  <a:schemeClr val="bg1"/>
                </a:solidFill>
              </a:rPr>
              <a:t>data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d;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!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true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NEW TX: NDI="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ndi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     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RV="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data=\""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data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i="1" dirty="0">
                <a:solidFill>
                  <a:schemeClr val="bg1"/>
                </a:solidFill>
              </a:rPr>
              <a:t>bool</a:t>
            </a:r>
            <a:r>
              <a:rPr lang="en-IN" sz="1400" dirty="0">
                <a:solidFill>
                  <a:schemeClr val="bg1"/>
                </a:solidFill>
              </a:rPr>
              <a:t> retransmit()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b="1" dirty="0">
                <a:solidFill>
                  <a:schemeClr val="bg1"/>
                </a:solidFill>
              </a:rPr>
              <a:t>if</a:t>
            </a:r>
            <a:r>
              <a:rPr lang="en-IN" sz="1400" dirty="0">
                <a:solidFill>
                  <a:schemeClr val="bg1"/>
                </a:solidFill>
              </a:rPr>
              <a:t> (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&gt;=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max_retx</a:t>
            </a:r>
            <a:r>
              <a:rPr lang="en-IN" sz="14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MAX RETX reached!\n"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b="1" dirty="0">
                <a:solidFill>
                  <a:schemeClr val="bg1"/>
                </a:solidFill>
              </a:rPr>
              <a:t>++;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rv_sequence</a:t>
            </a:r>
            <a:r>
              <a:rPr lang="en-IN" sz="1400" b="1" dirty="0">
                <a:solidFill>
                  <a:schemeClr val="bg1"/>
                </a:solidFill>
              </a:rPr>
              <a:t>[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%</a:t>
            </a:r>
            <a:r>
              <a:rPr lang="en-IN" sz="1400" dirty="0">
                <a:solidFill>
                  <a:schemeClr val="bg1"/>
                </a:solidFill>
              </a:rPr>
              <a:t> 4</a:t>
            </a:r>
            <a:r>
              <a:rPr lang="en-IN" sz="1400" b="1" dirty="0">
                <a:solidFill>
                  <a:schemeClr val="bg1"/>
                </a:solidFill>
              </a:rPr>
              <a:t>];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RETX #"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retx_count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         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": RV="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 err="1">
                <a:solidFill>
                  <a:schemeClr val="bg1"/>
                </a:solidFill>
              </a:rPr>
              <a:t>rv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true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31BCC32-A9E8-97AD-CAAC-80448BBF445C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CFBB606-F5AD-FD85-549D-A34B41CDE8B9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91AD12F-A2EE-08B6-47C0-18DE0D20184B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EC4A4E9C-7CC2-A46A-A37A-B78B22C9DA71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8A5FD53-5823-764A-E3BF-935588077E86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B6FE126-98C7-A5A8-2F11-C0062C15876D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BFDA2B1-23BD-8398-F7D9-F02EC1F5DABF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72BBE5-4B47-29E3-D58B-BF9DF38BDEE9}"/>
              </a:ext>
            </a:extLst>
          </p:cNvPr>
          <p:cNvSpPr/>
          <p:nvPr/>
        </p:nvSpPr>
        <p:spPr>
          <a:xfrm>
            <a:off x="6432556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4F1642-BA67-7377-21C8-DD7C9608946B}"/>
              </a:ext>
            </a:extLst>
          </p:cNvPr>
          <p:cNvSpPr txBox="1"/>
          <p:nvPr/>
        </p:nvSpPr>
        <p:spPr>
          <a:xfrm>
            <a:off x="7550870" y="3007151"/>
            <a:ext cx="21964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/>
                </a:solidFill>
              </a:rPr>
              <a:t>HARQ[1] NEW TX: NDI=1 RV=0 data="Hello"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#1: RV=2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#2: RV=3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#3: RV=1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RETX #4: RV=0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HARQ[1] MAX RETX reached!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042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D087-60A1-61F2-D424-ADA06BEC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9757B75-0716-BD0C-373D-E2C7AA186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9429160-D85F-A112-F86E-94B14896C4DC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320C6-26AF-5AF2-C207-AA9E3702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2BC49-D415-8CB2-4942-55C40BC7E79A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18D0C-CB85-E4AC-5166-4155A50439E8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C7837-373A-FC72-4F71-41CA597FF6F5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BBE2F73C-1067-29A7-7784-339AB9FECE1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i="1" dirty="0">
                <a:solidFill>
                  <a:schemeClr val="bg1"/>
                </a:solidFill>
              </a:rPr>
              <a:t>void</a:t>
            </a:r>
            <a:r>
              <a:rPr lang="en-IN" sz="1400" dirty="0">
                <a:solidFill>
                  <a:schemeClr val="bg1"/>
                </a:solidFill>
              </a:rPr>
              <a:t> ack()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HARQ["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id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"] ACK received\n"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    </a:t>
            </a:r>
            <a:r>
              <a:rPr lang="en-IN" sz="1400" i="1" dirty="0">
                <a:solidFill>
                  <a:schemeClr val="bg1"/>
                </a:solidFill>
              </a:rPr>
              <a:t>active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false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}</a:t>
            </a:r>
          </a:p>
          <a:p>
            <a:r>
              <a:rPr lang="en-IN" sz="1400" dirty="0">
                <a:solidFill>
                  <a:schemeClr val="bg1"/>
                </a:solidFill>
              </a:rPr>
              <a:t>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i="1" dirty="0" err="1">
                <a:solidFill>
                  <a:schemeClr val="bg1"/>
                </a:solidFill>
              </a:rPr>
              <a:t>const</a:t>
            </a:r>
            <a:r>
              <a:rPr lang="en-IN" sz="1400" dirty="0">
                <a:solidFill>
                  <a:schemeClr val="bg1"/>
                </a:solidFill>
              </a:rPr>
              <a:t> std</a:t>
            </a:r>
            <a:r>
              <a:rPr lang="en-IN" sz="1400" b="1" dirty="0">
                <a:solidFill>
                  <a:schemeClr val="bg1"/>
                </a:solidFill>
              </a:rPr>
              <a:t>::array&lt;</a:t>
            </a:r>
            <a:r>
              <a:rPr lang="en-IN" sz="1400" i="1" dirty="0">
                <a:solidFill>
                  <a:schemeClr val="bg1"/>
                </a:solidFill>
              </a:rPr>
              <a:t>int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4</a:t>
            </a:r>
            <a:r>
              <a:rPr lang="en-IN" sz="1400" b="1" dirty="0">
                <a:solidFill>
                  <a:schemeClr val="bg1"/>
                </a:solidFill>
              </a:rPr>
              <a:t>&gt;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 err="1">
                <a:solidFill>
                  <a:schemeClr val="bg1"/>
                </a:solidFill>
              </a:rPr>
              <a:t>HARQProcess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i="1" dirty="0" err="1">
                <a:solidFill>
                  <a:schemeClr val="bg1"/>
                </a:solidFill>
              </a:rPr>
              <a:t>rv_sequence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=</a:t>
            </a:r>
            <a:r>
              <a:rPr lang="en-IN" sz="1400" dirty="0">
                <a:solidFill>
                  <a:schemeClr val="bg1"/>
                </a:solidFill>
              </a:rPr>
              <a:t> {0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2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3</a:t>
            </a:r>
            <a:r>
              <a:rPr lang="en-IN" sz="1400" b="1" dirty="0">
                <a:solidFill>
                  <a:schemeClr val="bg1"/>
                </a:solidFill>
              </a:rPr>
              <a:t>,</a:t>
            </a:r>
            <a:r>
              <a:rPr lang="en-IN" sz="1400" dirty="0">
                <a:solidFill>
                  <a:schemeClr val="bg1"/>
                </a:solidFill>
              </a:rPr>
              <a:t> 1}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int</a:t>
            </a:r>
            <a:r>
              <a:rPr lang="en-IN" sz="1400" dirty="0">
                <a:solidFill>
                  <a:schemeClr val="bg1"/>
                </a:solidFill>
              </a:rPr>
              <a:t> main() {</a:t>
            </a: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"=== HARQ Process (TS 38.321 §5.4) ===\n\n"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"16 parallel stop-and-wait HARQ processes\n"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"RV sequence: 0 -&gt; 2 -&gt; 3 -&gt; 1\n\n"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::mt19937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rng</a:t>
            </a:r>
            <a:r>
              <a:rPr lang="en-IN" sz="1400" dirty="0">
                <a:solidFill>
                  <a:schemeClr val="bg1"/>
                </a:solidFill>
              </a:rPr>
              <a:t>(42)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b="1" dirty="0" err="1">
                <a:solidFill>
                  <a:schemeClr val="bg1"/>
                </a:solidFill>
              </a:rPr>
              <a:t>HARQProcess</a:t>
            </a:r>
            <a:r>
              <a:rPr lang="en-IN" sz="1400" dirty="0">
                <a:solidFill>
                  <a:schemeClr val="bg1"/>
                </a:solidFill>
              </a:rPr>
              <a:t> proc{0}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("PDU-DATA-A")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83FB043-EEF7-CA5E-F78A-EA7D6BC9EB40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6BC8085-9E89-9F7E-DD14-09ED692E5382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3F0A9D5-529E-2FA8-DB40-782956D4AB42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CC130A5-B8DD-AC56-D645-B14D302076F1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C1B1DA0-78BF-C858-4A48-CD3CA3B5D463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2C3AA2B2-465E-5B25-E75C-E62140619E34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87FDDA-3387-DE50-42EC-428782C95473}"/>
              </a:ext>
            </a:extLst>
          </p:cNvPr>
          <p:cNvSpPr/>
          <p:nvPr/>
        </p:nvSpPr>
        <p:spPr>
          <a:xfrm>
            <a:off x="6428894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390A116-A77E-2B7C-6ADF-E7E293AD8A7C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131BD-8573-DF6D-F190-933DEEBC89B3}"/>
              </a:ext>
            </a:extLst>
          </p:cNvPr>
          <p:cNvSpPr txBox="1"/>
          <p:nvPr/>
        </p:nvSpPr>
        <p:spPr>
          <a:xfrm>
            <a:off x="7004115" y="2677212"/>
            <a:ext cx="36894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/>
                </a:solidFill>
              </a:rPr>
              <a:t>===HARQ Process (TS 38.321 §5.4) ==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600" b="1" dirty="0">
                <a:solidFill>
                  <a:schemeClr val="accent6"/>
                </a:solidFill>
              </a:rPr>
              <a:t>RV sequence: 0 -&gt; 2 -&gt; 3 -&gt; 1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  <a:p>
            <a:r>
              <a:rPr lang="en-IN" sz="1600" b="1" dirty="0">
                <a:solidFill>
                  <a:schemeClr val="accent6"/>
                </a:solidFill>
              </a:rPr>
              <a:t>HARQ[0] NEW TX: NDI=1 RV=0 data="PDU-DATA-A"</a:t>
            </a:r>
          </a:p>
          <a:p>
            <a:endParaRPr lang="en-IN" sz="1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556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24F4-0197-B7DC-E926-C45C8AD02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5EECDA1-BC8B-63A3-45DA-B6A3CCD63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4C67F58-73DE-3A40-73DA-87951B9453AA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DD693-D870-B443-5DB1-D1933D68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27A9E-3B86-E048-9DCD-03E8EE9C71F8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35FF4-8C15-4B22-94F3-AE8EB1E0D6CB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CF74E-E176-8890-2082-39C3F40EA819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E29A7D2-6F99-730E-6F58-BAF7C458F5C8}"/>
              </a:ext>
            </a:extLst>
          </p:cNvPr>
          <p:cNvSpPr/>
          <p:nvPr/>
        </p:nvSpPr>
        <p:spPr>
          <a:xfrm>
            <a:off x="933255" y="2026362"/>
            <a:ext cx="5055618" cy="3676854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r>
              <a:rPr lang="en-IN" sz="1400" i="1" dirty="0">
                <a:solidFill>
                  <a:schemeClr val="bg1"/>
                </a:solidFill>
              </a:rPr>
              <a:t> </a:t>
            </a:r>
          </a:p>
          <a:p>
            <a:endParaRPr lang="en-IN" sz="1400" i="1" dirty="0">
              <a:solidFill>
                <a:schemeClr val="bg1"/>
              </a:solidFill>
            </a:endParaRPr>
          </a:p>
          <a:p>
            <a:r>
              <a:rPr lang="en-IN" sz="1400" i="1" dirty="0">
                <a:solidFill>
                  <a:schemeClr val="bg1"/>
                </a:solidFill>
              </a:rPr>
              <a:t>   // Simulate NACK (channel error)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NACK (CRC fail)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retransmit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NACK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retransmit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ACK (combining success)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ack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new_transmission</a:t>
            </a:r>
            <a:r>
              <a:rPr lang="en-IN" sz="1400" dirty="0">
                <a:solidFill>
                  <a:schemeClr val="bg1"/>
                </a:solidFill>
              </a:rPr>
              <a:t>("PDU-DATA-B")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std</a:t>
            </a:r>
            <a:r>
              <a:rPr lang="en-IN" sz="1400" b="1" dirty="0">
                <a:solidFill>
                  <a:schemeClr val="bg1"/>
                </a:solidFill>
              </a:rPr>
              <a:t>::</a:t>
            </a:r>
            <a:r>
              <a:rPr lang="en-IN" sz="1400" dirty="0" err="1">
                <a:solidFill>
                  <a:schemeClr val="bg1"/>
                </a:solidFill>
              </a:rPr>
              <a:t>cout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b="1" dirty="0">
                <a:solidFill>
                  <a:schemeClr val="bg1"/>
                </a:solidFill>
              </a:rPr>
              <a:t>&lt;&lt;</a:t>
            </a:r>
            <a:r>
              <a:rPr lang="en-IN" sz="1400" dirty="0">
                <a:solidFill>
                  <a:schemeClr val="bg1"/>
                </a:solidFill>
              </a:rPr>
              <a:t> "  &lt;&lt; ACK (first attempt) &gt;&gt;\n"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dirty="0" err="1">
                <a:solidFill>
                  <a:schemeClr val="bg1"/>
                </a:solidFill>
              </a:rPr>
              <a:t>proc</a:t>
            </a:r>
            <a:r>
              <a:rPr lang="en-IN" sz="1400" b="1" dirty="0" err="1">
                <a:solidFill>
                  <a:schemeClr val="bg1"/>
                </a:solidFill>
              </a:rPr>
              <a:t>.</a:t>
            </a:r>
            <a:r>
              <a:rPr lang="en-IN" sz="1400" dirty="0" err="1">
                <a:solidFill>
                  <a:schemeClr val="bg1"/>
                </a:solidFill>
              </a:rPr>
              <a:t>ack</a:t>
            </a:r>
            <a:r>
              <a:rPr lang="en-IN" sz="1400" dirty="0">
                <a:solidFill>
                  <a:schemeClr val="bg1"/>
                </a:solidFill>
              </a:rPr>
              <a:t>()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    </a:t>
            </a:r>
            <a:r>
              <a:rPr lang="en-IN" sz="1400" b="1" dirty="0">
                <a:solidFill>
                  <a:schemeClr val="bg1"/>
                </a:solidFill>
              </a:rPr>
              <a:t>return</a:t>
            </a:r>
            <a:r>
              <a:rPr lang="en-IN" sz="1400" dirty="0">
                <a:solidFill>
                  <a:schemeClr val="bg1"/>
                </a:solidFill>
              </a:rPr>
              <a:t> 0</a:t>
            </a:r>
            <a:r>
              <a:rPr lang="en-IN" sz="1400" b="1" dirty="0">
                <a:solidFill>
                  <a:schemeClr val="bg1"/>
                </a:solidFill>
              </a:rPr>
              <a:t>;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8401011-064F-8AC3-B054-E8B2FFB189C0}"/>
              </a:ext>
            </a:extLst>
          </p:cNvPr>
          <p:cNvSpPr/>
          <p:nvPr/>
        </p:nvSpPr>
        <p:spPr>
          <a:xfrm>
            <a:off x="1540824" y="2320481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7F7F4E5-31AD-EB7C-C59A-488853E9ED61}"/>
              </a:ext>
            </a:extLst>
          </p:cNvPr>
          <p:cNvSpPr/>
          <p:nvPr/>
        </p:nvSpPr>
        <p:spPr>
          <a:xfrm>
            <a:off x="6428894" y="1995212"/>
            <a:ext cx="4723014" cy="3676855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AD01D8B-7EA3-4048-5EDC-8DA6CBF3430F}"/>
              </a:ext>
            </a:extLst>
          </p:cNvPr>
          <p:cNvSpPr/>
          <p:nvPr/>
        </p:nvSpPr>
        <p:spPr>
          <a:xfrm>
            <a:off x="6856949" y="2509924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4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B6239399-A9A1-E408-9859-2269AD3AB526}"/>
              </a:ext>
            </a:extLst>
          </p:cNvPr>
          <p:cNvSpPr/>
          <p:nvPr/>
        </p:nvSpPr>
        <p:spPr>
          <a:xfrm flipV="1">
            <a:off x="6000839" y="3103130"/>
            <a:ext cx="428055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1384D7AE-8148-8C8B-60B2-F6D26CF77FB4}"/>
              </a:ext>
            </a:extLst>
          </p:cNvPr>
          <p:cNvSpPr/>
          <p:nvPr/>
        </p:nvSpPr>
        <p:spPr>
          <a:xfrm>
            <a:off x="933255" y="16294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B5DE1DE-7D47-F303-8432-45BF660C8EFE}"/>
              </a:ext>
            </a:extLst>
          </p:cNvPr>
          <p:cNvSpPr/>
          <p:nvPr/>
        </p:nvSpPr>
        <p:spPr>
          <a:xfrm>
            <a:off x="6337455" y="161903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D33B7D-C5C0-0CC5-1DC5-E09A018E0BE7}"/>
              </a:ext>
            </a:extLst>
          </p:cNvPr>
          <p:cNvSpPr/>
          <p:nvPr/>
        </p:nvSpPr>
        <p:spPr>
          <a:xfrm>
            <a:off x="6428894" y="16294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Output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3F40754-CB44-9CF0-F47C-E5C31DE1C467}"/>
              </a:ext>
            </a:extLst>
          </p:cNvPr>
          <p:cNvSpPr/>
          <p:nvPr/>
        </p:nvSpPr>
        <p:spPr>
          <a:xfrm>
            <a:off x="1066801" y="161903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180FDC-3652-C185-258B-5E497A6E9CC0}"/>
              </a:ext>
            </a:extLst>
          </p:cNvPr>
          <p:cNvSpPr txBox="1"/>
          <p:nvPr/>
        </p:nvSpPr>
        <p:spPr>
          <a:xfrm>
            <a:off x="6683418" y="2148250"/>
            <a:ext cx="47230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/>
                </a:solidFill>
              </a:rPr>
              <a:t>=== HARQ Process (TS 38.321 §5.4) ===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RV sequence: 0 -&gt; 2 -&gt; 3 -&gt; 1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  <a:p>
            <a:r>
              <a:rPr lang="en-IN" sz="1400" b="1" dirty="0">
                <a:solidFill>
                  <a:schemeClr val="accent6"/>
                </a:solidFill>
              </a:rPr>
              <a:t>HARQ[0] NEW TX: NDI=1 RV=0 data="PDU-DATA-A"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NACK (CRC fail)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RETX #1: RV=2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NACK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RETX #2: RV=3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ACK (combining success)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ACK received</a:t>
            </a:r>
          </a:p>
          <a:p>
            <a:endParaRPr lang="en-IN" sz="1400" b="1" dirty="0">
              <a:solidFill>
                <a:schemeClr val="accent6"/>
              </a:solidFill>
            </a:endParaRPr>
          </a:p>
          <a:p>
            <a:r>
              <a:rPr lang="en-IN" sz="1400" b="1" dirty="0">
                <a:solidFill>
                  <a:schemeClr val="accent6"/>
                </a:solidFill>
              </a:rPr>
              <a:t>HARQ[0] NEW TX: NDI=0 RV=0 data="PDU-DATA-B"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  &lt;&lt; ACK (first attempt) &gt;&gt;</a:t>
            </a:r>
          </a:p>
          <a:p>
            <a:r>
              <a:rPr lang="en-IN" sz="1400" b="1" dirty="0">
                <a:solidFill>
                  <a:schemeClr val="accent6"/>
                </a:solidFill>
              </a:rPr>
              <a:t>HARQ[0] ACK received</a:t>
            </a:r>
          </a:p>
        </p:txBody>
      </p:sp>
    </p:spTree>
    <p:extLst>
      <p:ext uri="{BB962C8B-B14F-4D97-AF65-F5344CB8AC3E}">
        <p14:creationId xmlns:p14="http://schemas.microsoft.com/office/powerpoint/2010/main" val="3277713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7F15-D583-529F-591A-33E1EDC92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77BA1FA-6548-28B4-F199-DCB1A7FF8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04784F5-FB6C-E3D9-7E17-B98CBF21DBF5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9B926-A4EC-33DD-0C25-09344C4B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96431-C7DF-ACE3-6056-58E1BC1D7EF7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F8FC9-3D9E-4E1D-AD88-D61D3355E3B8}"/>
              </a:ext>
            </a:extLst>
          </p:cNvPr>
          <p:cNvSpPr txBox="1"/>
          <p:nvPr/>
        </p:nvSpPr>
        <p:spPr>
          <a:xfrm>
            <a:off x="0" y="3712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16892-029D-D02A-6CA1-08153CF6F75D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C4BA3C61-B8EB-DA7D-7912-9435236A314E}"/>
              </a:ext>
            </a:extLst>
          </p:cNvPr>
          <p:cNvSpPr/>
          <p:nvPr/>
        </p:nvSpPr>
        <p:spPr>
          <a:xfrm>
            <a:off x="-1" y="1136929"/>
            <a:ext cx="12191999" cy="5166632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1A0E43C-FE89-8A90-61BE-BBF45A27B5DF}"/>
              </a:ext>
            </a:extLst>
          </p:cNvPr>
          <p:cNvSpPr/>
          <p:nvPr/>
        </p:nvSpPr>
        <p:spPr>
          <a:xfrm>
            <a:off x="137159" y="1274088"/>
            <a:ext cx="11785599" cy="47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8486A-A195-7A02-9087-681AD5A4D21A}"/>
              </a:ext>
            </a:extLst>
          </p:cNvPr>
          <p:cNvSpPr txBox="1"/>
          <p:nvPr/>
        </p:nvSpPr>
        <p:spPr>
          <a:xfrm>
            <a:off x="4255076" y="1260859"/>
            <a:ext cx="68532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=== HARQ Process (TS 38.321 §5.4) ===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16 parallel stop-and-wait HARQ processes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RV sequence: 0 -&gt; 2 -&gt; 3 -&gt; 1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  HARQ[0] NEW TX: NDI=1 RV=0 data="PDU-DATA-A"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NACK (CRC fail)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RETX #1: RV=2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NACK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RETX #2: RV=3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ACK (combining success)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ACK received</a:t>
            </a:r>
          </a:p>
          <a:p>
            <a:br>
              <a:rPr lang="en-IN" sz="1600" dirty="0">
                <a:solidFill>
                  <a:schemeClr val="accent6"/>
                </a:solidFill>
              </a:rPr>
            </a:br>
            <a:endParaRPr lang="en-IN" sz="1600" dirty="0">
              <a:solidFill>
                <a:schemeClr val="accent6"/>
              </a:solidFill>
            </a:endParaRPr>
          </a:p>
          <a:p>
            <a:r>
              <a:rPr lang="en-IN" sz="1600" dirty="0">
                <a:solidFill>
                  <a:schemeClr val="accent6"/>
                </a:solidFill>
              </a:rPr>
              <a:t>  HARQ[0] NEW TX: NDI=0 RV=0 data="PDU-DATA-B"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&lt;&lt; ACK (first attempt) &gt;&gt;</a:t>
            </a:r>
          </a:p>
          <a:p>
            <a:r>
              <a:rPr lang="en-IN" sz="1600" dirty="0">
                <a:solidFill>
                  <a:schemeClr val="accent6"/>
                </a:solidFill>
              </a:rPr>
              <a:t>  HARQ[0] ACK received</a:t>
            </a:r>
          </a:p>
          <a:p>
            <a:endParaRPr lang="en-IN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861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5389-73AB-B1CD-3ED7-268B16AC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835AE94-F89A-43EC-6DB2-22B2A5038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6B4C765-EEC5-72D4-712F-8F55E935E414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5CD8-0002-BDCA-82C1-A4A77301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75EA4-D7A8-4D64-803B-64A0DCED728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CEA09-D0BF-3EAC-3EDA-BB6715AAB117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E4BB3-9115-0C10-EDB4-6C4E285AA693}"/>
              </a:ext>
            </a:extLst>
          </p:cNvPr>
          <p:cNvSpPr txBox="1"/>
          <p:nvPr/>
        </p:nvSpPr>
        <p:spPr>
          <a:xfrm>
            <a:off x="421353" y="185600"/>
            <a:ext cx="7532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 Summary</a:t>
            </a:r>
            <a:endParaRPr lang="en-IN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A72D0FB-6CAE-08BA-5925-1934DA2E4951}"/>
              </a:ext>
            </a:extLst>
          </p:cNvPr>
          <p:cNvSpPr/>
          <p:nvPr/>
        </p:nvSpPr>
        <p:spPr>
          <a:xfrm>
            <a:off x="862553" y="187188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7B665C7-8849-E9D0-8169-F5B3AE352126}"/>
              </a:ext>
            </a:extLst>
          </p:cNvPr>
          <p:cNvSpPr/>
          <p:nvPr/>
        </p:nvSpPr>
        <p:spPr>
          <a:xfrm>
            <a:off x="862553" y="187188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B71D88C-59D2-1C10-1055-82D468C5917E}"/>
              </a:ext>
            </a:extLst>
          </p:cNvPr>
          <p:cNvSpPr/>
          <p:nvPr/>
        </p:nvSpPr>
        <p:spPr>
          <a:xfrm>
            <a:off x="1045433" y="194503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DB4DC27-63A5-FCF0-A9EB-3D58301DFED9}"/>
              </a:ext>
            </a:extLst>
          </p:cNvPr>
          <p:cNvSpPr/>
          <p:nvPr/>
        </p:nvSpPr>
        <p:spPr>
          <a:xfrm>
            <a:off x="1045433" y="219192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mechanism combining FEC with feedback-based retransmissions</a:t>
            </a:r>
            <a:endParaRPr lang="en-US" sz="14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66330EE-4A97-4A2B-648B-11EB25FED6D3}"/>
              </a:ext>
            </a:extLst>
          </p:cNvPr>
          <p:cNvSpPr/>
          <p:nvPr/>
        </p:nvSpPr>
        <p:spPr>
          <a:xfrm>
            <a:off x="5205953" y="187188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CEE186E-6B0E-A445-0E0E-36278A278459}"/>
              </a:ext>
            </a:extLst>
          </p:cNvPr>
          <p:cNvSpPr/>
          <p:nvPr/>
        </p:nvSpPr>
        <p:spPr>
          <a:xfrm>
            <a:off x="5205953" y="187188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881AE9F-6537-8920-09A0-37F6A7352102}"/>
              </a:ext>
            </a:extLst>
          </p:cNvPr>
          <p:cNvSpPr/>
          <p:nvPr/>
        </p:nvSpPr>
        <p:spPr>
          <a:xfrm>
            <a:off x="5388833" y="194503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Block (TB)</a:t>
            </a:r>
            <a:endParaRPr lang="en-US" sz="14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B810D44E-869C-5E7D-80FF-8D1C573423BE}"/>
              </a:ext>
            </a:extLst>
          </p:cNvPr>
          <p:cNvSpPr/>
          <p:nvPr/>
        </p:nvSpPr>
        <p:spPr>
          <a:xfrm>
            <a:off x="5388833" y="219192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data delivered from higher layers for transmission</a:t>
            </a:r>
            <a:endParaRPr lang="en-US" sz="14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C81A2CA-7F2A-CE72-A1DD-32E9EAB8374B}"/>
              </a:ext>
            </a:extLst>
          </p:cNvPr>
          <p:cNvSpPr/>
          <p:nvPr/>
        </p:nvSpPr>
        <p:spPr>
          <a:xfrm>
            <a:off x="862553" y="264912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6E03767B-2916-FD94-E657-250833A4DD88}"/>
              </a:ext>
            </a:extLst>
          </p:cNvPr>
          <p:cNvSpPr/>
          <p:nvPr/>
        </p:nvSpPr>
        <p:spPr>
          <a:xfrm>
            <a:off x="862553" y="264912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0B7504C-19A8-3ED8-05B4-FE940764682C}"/>
              </a:ext>
            </a:extLst>
          </p:cNvPr>
          <p:cNvSpPr/>
          <p:nvPr/>
        </p:nvSpPr>
        <p:spPr>
          <a:xfrm>
            <a:off x="1045433" y="272227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 Process</a:t>
            </a:r>
            <a:endParaRPr lang="en-US" sz="14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42CC0361-C994-92B0-97EC-052A4B3FB4A7}"/>
              </a:ext>
            </a:extLst>
          </p:cNvPr>
          <p:cNvSpPr/>
          <p:nvPr/>
        </p:nvSpPr>
        <p:spPr>
          <a:xfrm>
            <a:off x="1045433" y="29691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transmission pipeline with unique ID and buffers</a:t>
            </a:r>
            <a:endParaRPr lang="en-US" sz="14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70BE91DB-07D6-2EEE-E5D2-88A0FB9AF630}"/>
              </a:ext>
            </a:extLst>
          </p:cNvPr>
          <p:cNvSpPr/>
          <p:nvPr/>
        </p:nvSpPr>
        <p:spPr>
          <a:xfrm>
            <a:off x="5205953" y="264912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697C5BCD-F06A-92EE-4C7D-D7D65B33ABC0}"/>
              </a:ext>
            </a:extLst>
          </p:cNvPr>
          <p:cNvSpPr/>
          <p:nvPr/>
        </p:nvSpPr>
        <p:spPr>
          <a:xfrm>
            <a:off x="5205953" y="264912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EFF54CFC-DC99-12E5-DCA6-CE94EF4DDE52}"/>
              </a:ext>
            </a:extLst>
          </p:cNvPr>
          <p:cNvSpPr/>
          <p:nvPr/>
        </p:nvSpPr>
        <p:spPr>
          <a:xfrm>
            <a:off x="5388833" y="272227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</a:t>
            </a:r>
            <a:endParaRPr lang="en-US" sz="14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8F0987CE-70ED-FBD2-7991-BA545C481668}"/>
              </a:ext>
            </a:extLst>
          </p:cNvPr>
          <p:cNvSpPr/>
          <p:nvPr/>
        </p:nvSpPr>
        <p:spPr>
          <a:xfrm>
            <a:off x="5388833" y="296916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distinguishing new TB from retransmission</a:t>
            </a:r>
            <a:endParaRPr lang="en-US" sz="14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CCA59F71-3E90-5DEB-3856-30F743A5CB7A}"/>
              </a:ext>
            </a:extLst>
          </p:cNvPr>
          <p:cNvSpPr/>
          <p:nvPr/>
        </p:nvSpPr>
        <p:spPr>
          <a:xfrm>
            <a:off x="862553" y="342636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8CCA8B8-165A-81A4-A3E6-F34E6733BE30}"/>
              </a:ext>
            </a:extLst>
          </p:cNvPr>
          <p:cNvSpPr/>
          <p:nvPr/>
        </p:nvSpPr>
        <p:spPr>
          <a:xfrm>
            <a:off x="862553" y="342636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6FFCCEB-6A6F-C9AB-E5BF-C6FDD43D51B2}"/>
              </a:ext>
            </a:extLst>
          </p:cNvPr>
          <p:cNvSpPr/>
          <p:nvPr/>
        </p:nvSpPr>
        <p:spPr>
          <a:xfrm>
            <a:off x="1045433" y="349951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Version</a:t>
            </a:r>
            <a:endParaRPr lang="en-US" sz="14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92220D6D-B5C0-1586-5A6D-01AB76D324F3}"/>
              </a:ext>
            </a:extLst>
          </p:cNvPr>
          <p:cNvSpPr/>
          <p:nvPr/>
        </p:nvSpPr>
        <p:spPr>
          <a:xfrm>
            <a:off x="1045433" y="374640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for which coded bits are transmitted (0→2→3→1)</a:t>
            </a:r>
            <a:endParaRPr lang="en-US" sz="14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C3322EFF-7A94-5D96-09BE-A2FE8B7079FF}"/>
              </a:ext>
            </a:extLst>
          </p:cNvPr>
          <p:cNvSpPr/>
          <p:nvPr/>
        </p:nvSpPr>
        <p:spPr>
          <a:xfrm>
            <a:off x="5205953" y="342636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98898280-9C55-B764-23DA-DBCA073A9311}"/>
              </a:ext>
            </a:extLst>
          </p:cNvPr>
          <p:cNvSpPr/>
          <p:nvPr/>
        </p:nvSpPr>
        <p:spPr>
          <a:xfrm>
            <a:off x="5205953" y="342636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DF80FD9-FF3E-C51A-9D52-974EC6E7E3B8}"/>
              </a:ext>
            </a:extLst>
          </p:cNvPr>
          <p:cNvSpPr/>
          <p:nvPr/>
        </p:nvSpPr>
        <p:spPr>
          <a:xfrm>
            <a:off x="5388833" y="349951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ACK/NACK</a:t>
            </a:r>
            <a:endParaRPr lang="en-US" sz="14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ED4D3F7-A896-6E3E-C9CE-9FBF38A85307}"/>
              </a:ext>
            </a:extLst>
          </p:cNvPr>
          <p:cNvSpPr/>
          <p:nvPr/>
        </p:nvSpPr>
        <p:spPr>
          <a:xfrm>
            <a:off x="5388833" y="374640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feedback controlling retransmissions</a:t>
            </a:r>
            <a:endParaRPr lang="en-US" sz="14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592D86E2-95BB-C48C-8234-6B1347679EE1}"/>
              </a:ext>
            </a:extLst>
          </p:cNvPr>
          <p:cNvSpPr/>
          <p:nvPr/>
        </p:nvSpPr>
        <p:spPr>
          <a:xfrm>
            <a:off x="862553" y="420360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AFE70EF7-889E-98D2-6274-7911E66132A3}"/>
              </a:ext>
            </a:extLst>
          </p:cNvPr>
          <p:cNvSpPr/>
          <p:nvPr/>
        </p:nvSpPr>
        <p:spPr>
          <a:xfrm>
            <a:off x="862553" y="420360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16FAAB3E-8620-8503-EEA4-EEE8D4CF19BF}"/>
              </a:ext>
            </a:extLst>
          </p:cNvPr>
          <p:cNvSpPr/>
          <p:nvPr/>
        </p:nvSpPr>
        <p:spPr>
          <a:xfrm>
            <a:off x="1045433" y="427675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Combining</a:t>
            </a:r>
            <a:endParaRPr lang="en-US" sz="14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3DD9DA8A-FF14-FCD4-59C2-AC356605A587}"/>
              </a:ext>
            </a:extLst>
          </p:cNvPr>
          <p:cNvSpPr/>
          <p:nvPr/>
        </p:nvSpPr>
        <p:spPr>
          <a:xfrm>
            <a:off x="1045433" y="452364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probability information across attempts</a:t>
            </a:r>
            <a:endParaRPr lang="en-US" sz="14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6E532A32-9A8E-DAC5-F1E6-4262647DD028}"/>
              </a:ext>
            </a:extLst>
          </p:cNvPr>
          <p:cNvSpPr/>
          <p:nvPr/>
        </p:nvSpPr>
        <p:spPr>
          <a:xfrm>
            <a:off x="5205953" y="420360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E8955FB-A2DD-8571-2EC3-1D9F2AA46BB4}"/>
              </a:ext>
            </a:extLst>
          </p:cNvPr>
          <p:cNvSpPr/>
          <p:nvPr/>
        </p:nvSpPr>
        <p:spPr>
          <a:xfrm>
            <a:off x="5205953" y="420360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E48563A1-C793-24D0-2D01-C8D0F0BED05B}"/>
              </a:ext>
            </a:extLst>
          </p:cNvPr>
          <p:cNvSpPr/>
          <p:nvPr/>
        </p:nvSpPr>
        <p:spPr>
          <a:xfrm>
            <a:off x="5388833" y="427675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Redundancy</a:t>
            </a:r>
            <a:endParaRPr lang="en-US" sz="1400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1726CEAF-3603-83D0-3024-EF9CECF28B84}"/>
              </a:ext>
            </a:extLst>
          </p:cNvPr>
          <p:cNvSpPr/>
          <p:nvPr/>
        </p:nvSpPr>
        <p:spPr>
          <a:xfrm>
            <a:off x="5388833" y="452364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parity per attempt, not repetition</a:t>
            </a:r>
            <a:endParaRPr lang="en-US" sz="1400" dirty="0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674F5672-08B4-D258-810E-C63026B76402}"/>
              </a:ext>
            </a:extLst>
          </p:cNvPr>
          <p:cNvSpPr/>
          <p:nvPr/>
        </p:nvSpPr>
        <p:spPr>
          <a:xfrm>
            <a:off x="862553" y="4980843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4383E33D-8D84-B11C-EEBB-603AC2C610B6}"/>
              </a:ext>
            </a:extLst>
          </p:cNvPr>
          <p:cNvSpPr/>
          <p:nvPr/>
        </p:nvSpPr>
        <p:spPr>
          <a:xfrm>
            <a:off x="862553" y="4980843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C9467477-97BD-04DD-54AC-6BF754F91467}"/>
              </a:ext>
            </a:extLst>
          </p:cNvPr>
          <p:cNvSpPr/>
          <p:nvPr/>
        </p:nvSpPr>
        <p:spPr>
          <a:xfrm>
            <a:off x="1045433" y="505399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Retx Limit</a:t>
            </a:r>
            <a:endParaRPr lang="en-US" sz="1400" dirty="0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027F11A7-5F56-184C-221C-C869F28C30B2}"/>
              </a:ext>
            </a:extLst>
          </p:cNvPr>
          <p:cNvSpPr/>
          <p:nvPr/>
        </p:nvSpPr>
        <p:spPr>
          <a:xfrm>
            <a:off x="1045433" y="5300883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preventing indefinite retransmissions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3945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2A16-5F4F-8FCA-38E6-A9DA2DB7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6D08522-99D6-9258-5288-6FE0DC2F3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945332-FF32-3A1F-B7BF-F7FE8958E368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D500-16A5-0242-6F48-6B835F44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AA9A4-73C3-FB73-6ECA-FDB48780FCD3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DBBE6-6E5E-8391-EE0E-76DABAF93C54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E4488-29F8-CBF1-1A9C-E0B2F6534096}"/>
              </a:ext>
            </a:extLst>
          </p:cNvPr>
          <p:cNvSpPr txBox="1"/>
          <p:nvPr/>
        </p:nvSpPr>
        <p:spPr>
          <a:xfrm>
            <a:off x="421353" y="185600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4C31D-73B3-9199-35D8-24B021254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666"/>
            <a:ext cx="12192000" cy="46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10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2E65-7F63-A979-0AE0-04F886A5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D719C7D-FE94-827B-8C3D-745FEE889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FCA436-F413-1154-5870-F963964F7E9D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A4AED-D1E8-8B92-DA31-4208F29F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5C8FC-1DAC-55FA-58CB-91F287EF132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D2A8A-618E-F1AA-2A31-78991F6F5F96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C26AA-5D9A-485C-43A8-817AD9AFCD38}"/>
              </a:ext>
            </a:extLst>
          </p:cNvPr>
          <p:cNvSpPr txBox="1"/>
          <p:nvPr/>
        </p:nvSpPr>
        <p:spPr>
          <a:xfrm>
            <a:off x="421353" y="185600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30039-528B-786B-9F51-4E861E025E42}"/>
              </a:ext>
            </a:extLst>
          </p:cNvPr>
          <p:cNvSpPr txBox="1"/>
          <p:nvPr/>
        </p:nvSpPr>
        <p:spPr>
          <a:xfrm>
            <a:off x="0" y="1140643"/>
            <a:ext cx="12192000" cy="5147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085937B-B50F-4F73-409F-7A6FCB3DA59D}"/>
              </a:ext>
            </a:extLst>
          </p:cNvPr>
          <p:cNvSpPr/>
          <p:nvPr/>
        </p:nvSpPr>
        <p:spPr>
          <a:xfrm>
            <a:off x="2286000" y="2091707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HARQ is a critical closed-loop reliability system in 5G NR that ensures robust data delivery without compromising latency or spectral efficiency.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CA6B15CC-5E9A-48F6-476C-91D73BB3A9CF}"/>
              </a:ext>
            </a:extLst>
          </p:cNvPr>
          <p:cNvSpPr/>
          <p:nvPr/>
        </p:nvSpPr>
        <p:spPr>
          <a:xfrm>
            <a:off x="2743200" y="2823226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ADC9FB5-C299-8EBB-7626-AFA57191F580}"/>
              </a:ext>
            </a:extLst>
          </p:cNvPr>
          <p:cNvSpPr/>
          <p:nvPr/>
        </p:nvSpPr>
        <p:spPr>
          <a:xfrm>
            <a:off x="2880360" y="2868946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Combines Physical Layer transmission with MAC layer control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1547EBC-2EA8-7D42-E65C-A93ABFD22107}"/>
              </a:ext>
            </a:extLst>
          </p:cNvPr>
          <p:cNvSpPr/>
          <p:nvPr/>
        </p:nvSpPr>
        <p:spPr>
          <a:xfrm>
            <a:off x="2743200" y="3262138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92CCAD8-2EE3-A791-EDCE-A2B984AFF8A8}"/>
              </a:ext>
            </a:extLst>
          </p:cNvPr>
          <p:cNvSpPr/>
          <p:nvPr/>
        </p:nvSpPr>
        <p:spPr>
          <a:xfrm>
            <a:off x="2880360" y="3307858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Uses incremental redundancy and soft combining for efficiency</a:t>
            </a:r>
            <a:endParaRPr lang="en-US" sz="1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CF03578-7D20-845E-9333-6AAF76A0E3F3}"/>
              </a:ext>
            </a:extLst>
          </p:cNvPr>
          <p:cNvSpPr/>
          <p:nvPr/>
        </p:nvSpPr>
        <p:spPr>
          <a:xfrm>
            <a:off x="2743200" y="3701050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A8A15EE-CB44-7039-0409-A3ADFC90AB60}"/>
              </a:ext>
            </a:extLst>
          </p:cNvPr>
          <p:cNvSpPr/>
          <p:nvPr/>
        </p:nvSpPr>
        <p:spPr>
          <a:xfrm>
            <a:off x="2880360" y="3746770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Parallel processes enable continuous high-throughput operation</a:t>
            </a:r>
            <a:endParaRPr lang="en-US" sz="16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0255428A-6E23-CC44-BB08-FACF3213F637}"/>
              </a:ext>
            </a:extLst>
          </p:cNvPr>
          <p:cNvSpPr/>
          <p:nvPr/>
        </p:nvSpPr>
        <p:spPr>
          <a:xfrm>
            <a:off x="2743200" y="4139962"/>
            <a:ext cx="6400800" cy="60959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C048BF3-52BA-FFA1-2DFB-F22350998BE7}"/>
              </a:ext>
            </a:extLst>
          </p:cNvPr>
          <p:cNvSpPr/>
          <p:nvPr/>
        </p:nvSpPr>
        <p:spPr>
          <a:xfrm>
            <a:off x="2880360" y="4185682"/>
            <a:ext cx="6126480" cy="45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Forms the foundation for eMBB, URLLC, and mMTC services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9092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5B3F-1562-2D49-C186-13AEF078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6C58B5-CBB5-4BC4-0142-B7795C0DC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B034DA9-5FD5-ABF0-87A3-99FCF33A9498}"/>
              </a:ext>
            </a:extLst>
          </p:cNvPr>
          <p:cNvSpPr txBox="1"/>
          <p:nvPr/>
        </p:nvSpPr>
        <p:spPr>
          <a:xfrm>
            <a:off x="4434184" y="658015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B194A-3352-10E1-892F-F9CE7FB3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CD2FD-A086-11B1-134E-7C9217A784DB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08D58-1BBD-748B-E030-174B1312DCD1}"/>
              </a:ext>
            </a:extLst>
          </p:cNvPr>
          <p:cNvSpPr txBox="1"/>
          <p:nvPr/>
        </p:nvSpPr>
        <p:spPr>
          <a:xfrm>
            <a:off x="0" y="0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80155-AC24-96B2-5D03-85DED1EA3816}"/>
              </a:ext>
            </a:extLst>
          </p:cNvPr>
          <p:cNvSpPr txBox="1"/>
          <p:nvPr/>
        </p:nvSpPr>
        <p:spPr>
          <a:xfrm>
            <a:off x="4434184" y="136949"/>
            <a:ext cx="7532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2F6DF-1F89-2753-90FF-5CA6715284D0}"/>
              </a:ext>
            </a:extLst>
          </p:cNvPr>
          <p:cNvSpPr txBox="1"/>
          <p:nvPr/>
        </p:nvSpPr>
        <p:spPr>
          <a:xfrm>
            <a:off x="0" y="2177592"/>
            <a:ext cx="121920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8"/>
            <a:r>
              <a:rPr lang="en-IN" sz="32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Group : 03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Jayavarshini G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Harshinie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Yuvaraj P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Shreyash Bhatt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Vikas Srivastava</a:t>
            </a:r>
          </a:p>
        </p:txBody>
      </p:sp>
    </p:spTree>
    <p:extLst>
      <p:ext uri="{BB962C8B-B14F-4D97-AF65-F5344CB8AC3E}">
        <p14:creationId xmlns:p14="http://schemas.microsoft.com/office/powerpoint/2010/main" val="129432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3307</TotalTime>
  <Words>1901</Words>
  <Application>Microsoft Office PowerPoint</Application>
  <PresentationFormat>Widescreen</PresentationFormat>
  <Paragraphs>335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HK Grotesk</vt:lpstr>
      <vt:lpstr>HK Grotesk Light</vt:lpstr>
      <vt:lpstr>HK Grotesk Light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vikas srivastava</cp:lastModifiedBy>
  <cp:revision>136</cp:revision>
  <dcterms:created xsi:type="dcterms:W3CDTF">2024-05-04T13:11:57Z</dcterms:created>
  <dcterms:modified xsi:type="dcterms:W3CDTF">2026-02-15T10:12:32Z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