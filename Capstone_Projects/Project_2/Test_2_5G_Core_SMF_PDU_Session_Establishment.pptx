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60" r:id="rId2"/>
    <p:sldId id="4421" r:id="rId3"/>
    <p:sldId id="4445" r:id="rId4"/>
    <p:sldId id="4444" r:id="rId5"/>
    <p:sldId id="4443" r:id="rId6"/>
    <p:sldId id="4442" r:id="rId7"/>
    <p:sldId id="4441" r:id="rId8"/>
    <p:sldId id="4446" r:id="rId9"/>
    <p:sldId id="4450" r:id="rId10"/>
    <p:sldId id="4440" r:id="rId11"/>
    <p:sldId id="4439" r:id="rId12"/>
    <p:sldId id="4451" r:id="rId13"/>
    <p:sldId id="4438" r:id="rId14"/>
    <p:sldId id="4447" r:id="rId15"/>
    <p:sldId id="4437" r:id="rId16"/>
    <p:sldId id="4436" r:id="rId17"/>
    <p:sldId id="4435" r:id="rId18"/>
    <p:sldId id="4434" r:id="rId19"/>
    <p:sldId id="4433" r:id="rId20"/>
    <p:sldId id="4432" r:id="rId21"/>
    <p:sldId id="4431" r:id="rId22"/>
    <p:sldId id="4430" r:id="rId23"/>
    <p:sldId id="4429" r:id="rId24"/>
    <p:sldId id="4449" r:id="rId25"/>
    <p:sldId id="4428" r:id="rId26"/>
    <p:sldId id="4452" r:id="rId27"/>
    <p:sldId id="442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2/14/2026</a:t>
            </a:fld>
            <a:endParaRPr lang="en-US"/>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2/14/2026</a:t>
            </a:fld>
            <a:endParaRPr lang="en-US"/>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25SUB4505_5 G Developer </a:t>
            </a:r>
          </a:p>
        </p:txBody>
      </p:sp>
      <p:sp>
        <p:nvSpPr>
          <p:cNvPr id="7" name="TextBox 7"/>
          <p:cNvSpPr txBox="1"/>
          <p:nvPr/>
        </p:nvSpPr>
        <p:spPr>
          <a:xfrm>
            <a:off x="366227" y="327523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13</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Group (03) </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Here – SMF PDU Session Establishment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5" name="TextBox 4">
            <a:extLst>
              <a:ext uri="{FF2B5EF4-FFF2-40B4-BE49-F238E27FC236}">
                <a16:creationId xmlns:a16="http://schemas.microsoft.com/office/drawing/2014/main" id="{D67BC741-4C50-0097-A510-DB262FE9EFC7}"/>
              </a:ext>
            </a:extLst>
          </p:cNvPr>
          <p:cNvSpPr txBox="1"/>
          <p:nvPr/>
        </p:nvSpPr>
        <p:spPr>
          <a:xfrm>
            <a:off x="0" y="0"/>
            <a:ext cx="12192000" cy="6397884"/>
          </a:xfrm>
          <a:prstGeom prst="rect">
            <a:avLst/>
          </a:prstGeom>
          <a:solidFill>
            <a:schemeClr val="tx2">
              <a:lumMod val="90000"/>
              <a:lumOff val="10000"/>
            </a:schemeClr>
          </a:solidFill>
          <a:ln>
            <a:solidFill>
              <a:schemeClr val="tx2">
                <a:lumMod val="90000"/>
                <a:lumOff val="10000"/>
              </a:schemeClr>
            </a:solidFill>
          </a:ln>
        </p:spPr>
        <p:txBody>
          <a:bodyPr wrap="square" rtlCol="0">
            <a:spAutoFit/>
          </a:bodyPr>
          <a:lstStyle/>
          <a:p>
            <a:endParaRPr lang="en-IN" dirty="0"/>
          </a:p>
        </p:txBody>
      </p:sp>
      <p:sp>
        <p:nvSpPr>
          <p:cNvPr id="7" name="TextBox 6">
            <a:extLst>
              <a:ext uri="{FF2B5EF4-FFF2-40B4-BE49-F238E27FC236}">
                <a16:creationId xmlns:a16="http://schemas.microsoft.com/office/drawing/2014/main" id="{26D29C6D-9FB6-D87D-04C6-AE9F52A11944}"/>
              </a:ext>
            </a:extLst>
          </p:cNvPr>
          <p:cNvSpPr txBox="1"/>
          <p:nvPr/>
        </p:nvSpPr>
        <p:spPr>
          <a:xfrm>
            <a:off x="2366128" y="2007909"/>
            <a:ext cx="8587818" cy="2123658"/>
          </a:xfrm>
          <a:prstGeom prst="rect">
            <a:avLst/>
          </a:prstGeom>
          <a:noFill/>
        </p:spPr>
        <p:txBody>
          <a:bodyPr wrap="square" rtlCol="0">
            <a:spAutoFit/>
          </a:bodyPr>
          <a:lstStyle/>
          <a:p>
            <a:r>
              <a:rPr lang="en-IN" sz="6600" b="1" dirty="0">
                <a:solidFill>
                  <a:schemeClr val="bg1"/>
                </a:solidFill>
                <a:latin typeface="Calibri" panose="020F0502020204030204" pitchFamily="34" charset="0"/>
                <a:ea typeface="Calibri" panose="020F0502020204030204" pitchFamily="34" charset="0"/>
                <a:cs typeface="Calibri" panose="020F0502020204030204" pitchFamily="34" charset="0"/>
              </a:rPr>
              <a:t>Introduction to SMF</a:t>
            </a:r>
          </a:p>
          <a:p>
            <a:endParaRPr lang="en-IN" sz="6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91A5B74-AA72-83A9-9EFE-3DA4F70F0097}"/>
              </a:ext>
            </a:extLst>
          </p:cNvPr>
          <p:cNvSpPr txBox="1"/>
          <p:nvPr/>
        </p:nvSpPr>
        <p:spPr>
          <a:xfrm>
            <a:off x="2752627" y="3429000"/>
            <a:ext cx="6997831" cy="954107"/>
          </a:xfrm>
          <a:prstGeom prst="rect">
            <a:avLst/>
          </a:prstGeom>
          <a:noFill/>
        </p:spPr>
        <p:txBody>
          <a:bodyPr wrap="square" rtlCol="0">
            <a:spAutoFit/>
          </a:bodyPr>
          <a:lstStyle/>
          <a:p>
            <a:r>
              <a:rPr lang="en-IN" sz="2800" b="1" dirty="0">
                <a:solidFill>
                  <a:schemeClr val="tx2">
                    <a:lumMod val="90000"/>
                    <a:lumOff val="10000"/>
                  </a:schemeClr>
                </a:solidFill>
                <a:latin typeface="Calibri" panose="020F0502020204030204" pitchFamily="34" charset="0"/>
                <a:ea typeface="Calibri" panose="020F0502020204030204" pitchFamily="34" charset="0"/>
                <a:cs typeface="Calibri" panose="020F0502020204030204" pitchFamily="34" charset="0"/>
              </a:rPr>
              <a:t>Session Management Function in 5G Core</a:t>
            </a:r>
          </a:p>
          <a:p>
            <a:endParaRPr lang="en-IN" sz="2800" b="1" dirty="0">
              <a:solidFill>
                <a:schemeClr val="tx2">
                  <a:lumMod val="90000"/>
                  <a:lumOff val="1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743C4-9EFD-DF39-3E66-2BD81623E8A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17C335A9-88C4-D019-2AFC-0DF893A5B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59E3D42-DA89-966F-3A20-3D8C8935593A}"/>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385B880F-BC31-D34E-FB3B-A682198984B3}"/>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4" name="TextBox 3">
            <a:extLst>
              <a:ext uri="{FF2B5EF4-FFF2-40B4-BE49-F238E27FC236}">
                <a16:creationId xmlns:a16="http://schemas.microsoft.com/office/drawing/2014/main" id="{73C4CCE4-7A35-59A5-7AD2-035C2A565B28}"/>
              </a:ext>
            </a:extLst>
          </p:cNvPr>
          <p:cNvSpPr txBox="1"/>
          <p:nvPr/>
        </p:nvSpPr>
        <p:spPr>
          <a:xfrm>
            <a:off x="0" y="0"/>
            <a:ext cx="179109" cy="6397884"/>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9B529FFD-FA06-A933-4378-A3B856CB3995}"/>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83C71FE5-5CAE-DF19-1D09-C0656A323534}"/>
              </a:ext>
            </a:extLst>
          </p:cNvPr>
          <p:cNvSpPr txBox="1"/>
          <p:nvPr/>
        </p:nvSpPr>
        <p:spPr>
          <a:xfrm>
            <a:off x="80128" y="211469"/>
            <a:ext cx="11378153" cy="769441"/>
          </a:xfrm>
          <a:prstGeom prst="rect">
            <a:avLst/>
          </a:prstGeom>
          <a:solidFill>
            <a:schemeClr val="accent4">
              <a:lumMod val="60000"/>
              <a:lumOff val="40000"/>
            </a:schemeClr>
          </a:solidFill>
        </p:spPr>
        <p:txBody>
          <a:bodyPr wrap="square" rtlCol="0">
            <a:spAutoFit/>
          </a:bodyPr>
          <a:lstStyle/>
          <a:p>
            <a:r>
              <a:rPr lang="en-US" sz="4400" b="1" dirty="0">
                <a:solidFill>
                  <a:schemeClr val="bg1"/>
                </a:solidFill>
                <a:latin typeface="Calibri" panose="020F0502020204030204" pitchFamily="34" charset="0"/>
                <a:ea typeface="Calibri" panose="020F0502020204030204" pitchFamily="34" charset="0"/>
                <a:cs typeface="Calibri" panose="020F0502020204030204" pitchFamily="34" charset="0"/>
              </a:rPr>
              <a:t>What is the Session Management Function?</a:t>
            </a:r>
          </a:p>
        </p:txBody>
      </p:sp>
      <p:sp>
        <p:nvSpPr>
          <p:cNvPr id="8" name="TextBox 7">
            <a:extLst>
              <a:ext uri="{FF2B5EF4-FFF2-40B4-BE49-F238E27FC236}">
                <a16:creationId xmlns:a16="http://schemas.microsoft.com/office/drawing/2014/main" id="{279EAB86-B7D2-CC35-9516-B7258E70CB7B}"/>
              </a:ext>
            </a:extLst>
          </p:cNvPr>
          <p:cNvSpPr txBox="1"/>
          <p:nvPr/>
        </p:nvSpPr>
        <p:spPr>
          <a:xfrm>
            <a:off x="1673383" y="1869488"/>
            <a:ext cx="8845233" cy="3703578"/>
          </a:xfrm>
          <a:prstGeom prst="rect">
            <a:avLst/>
          </a:prstGeom>
          <a:noFill/>
          <a:ln>
            <a:solidFill>
              <a:schemeClr val="bg1">
                <a:lumMod val="85000"/>
              </a:schemeClr>
            </a:solidFill>
          </a:ln>
        </p:spPr>
        <p:txBody>
          <a:bodyPr wrap="square">
            <a:spAutoFit/>
          </a:bodyPr>
          <a:lstStyle/>
          <a:p>
            <a:pPr>
              <a:spcBef>
                <a:spcPts val="800"/>
              </a:spcBef>
              <a:spcAft>
                <a:spcPts val="800"/>
              </a:spcAft>
              <a:defRPr sz="1600">
                <a:solidFill>
                  <a:srgbClr val="1E293B"/>
                </a:solidFill>
              </a:defRPr>
            </a:pPr>
            <a:r>
              <a:rPr sz="2400" dirty="0"/>
              <a:t>• Critical control plane network function in 5G Core (5GC)</a:t>
            </a:r>
          </a:p>
          <a:p>
            <a:pPr>
              <a:spcBef>
                <a:spcPts val="800"/>
              </a:spcBef>
              <a:spcAft>
                <a:spcPts val="800"/>
              </a:spcAft>
              <a:defRPr sz="1600">
                <a:solidFill>
                  <a:srgbClr val="1E293B"/>
                </a:solidFill>
              </a:defRPr>
            </a:pPr>
            <a:r>
              <a:rPr sz="2400" dirty="0"/>
              <a:t>• Manages complete lifecycle of PDU Sessions</a:t>
            </a:r>
          </a:p>
          <a:p>
            <a:pPr>
              <a:spcBef>
                <a:spcPts val="800"/>
              </a:spcBef>
              <a:spcAft>
                <a:spcPts val="800"/>
              </a:spcAft>
              <a:defRPr sz="1600">
                <a:solidFill>
                  <a:srgbClr val="1E293B"/>
                </a:solidFill>
              </a:defRPr>
            </a:pPr>
            <a:r>
              <a:rPr sz="2400" dirty="0"/>
              <a:t>• PDU Session = data connectivity tunnel between UE and Data Network</a:t>
            </a:r>
          </a:p>
          <a:p>
            <a:pPr>
              <a:spcBef>
                <a:spcPts val="800"/>
              </a:spcBef>
              <a:spcAft>
                <a:spcPts val="800"/>
              </a:spcAft>
              <a:defRPr sz="1600">
                <a:solidFill>
                  <a:srgbClr val="1E293B"/>
                </a:solidFill>
              </a:defRPr>
            </a:pPr>
            <a:r>
              <a:rPr sz="2400" dirty="0"/>
              <a:t>• Coordinates with AMF, UPF, PCF, and UDM</a:t>
            </a:r>
          </a:p>
          <a:p>
            <a:pPr>
              <a:spcBef>
                <a:spcPts val="800"/>
              </a:spcBef>
              <a:spcAft>
                <a:spcPts val="800"/>
              </a:spcAft>
              <a:defRPr sz="1600">
                <a:solidFill>
                  <a:srgbClr val="1E293B"/>
                </a:solidFill>
              </a:defRPr>
            </a:pPr>
            <a:r>
              <a:rPr sz="2400" dirty="0"/>
              <a:t>• Handles session establishment, modification, and release</a:t>
            </a:r>
          </a:p>
          <a:p>
            <a:pPr>
              <a:spcBef>
                <a:spcPts val="800"/>
              </a:spcBef>
              <a:spcAft>
                <a:spcPts val="800"/>
              </a:spcAft>
              <a:defRPr sz="1600">
                <a:solidFill>
                  <a:srgbClr val="1E293B"/>
                </a:solidFill>
              </a:defRPr>
            </a:pPr>
            <a:r>
              <a:rPr sz="2400" dirty="0"/>
              <a:t>• Controls user plane via PFCP protocol on N4 interface</a:t>
            </a:r>
          </a:p>
        </p:txBody>
      </p:sp>
    </p:spTree>
    <p:extLst>
      <p:ext uri="{BB962C8B-B14F-4D97-AF65-F5344CB8AC3E}">
        <p14:creationId xmlns:p14="http://schemas.microsoft.com/office/powerpoint/2010/main" val="222961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0AAE-C1CE-E74E-D3E4-B7E9DF308434}"/>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3980601-E2A1-5752-3C2E-310C063C1D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755B8A2-B796-A881-5166-CD4A52070989}"/>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CEB5892-7289-B4FE-10FC-02AB9D4AD569}"/>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8" name="TextBox 7">
            <a:extLst>
              <a:ext uri="{FF2B5EF4-FFF2-40B4-BE49-F238E27FC236}">
                <a16:creationId xmlns:a16="http://schemas.microsoft.com/office/drawing/2014/main" id="{F2EDE76D-055B-32BE-10B9-5D113219B7B9}"/>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9" name="TextBox 8">
            <a:extLst>
              <a:ext uri="{FF2B5EF4-FFF2-40B4-BE49-F238E27FC236}">
                <a16:creationId xmlns:a16="http://schemas.microsoft.com/office/drawing/2014/main" id="{EC3762B6-AEB4-D7A9-85D8-459596BCAF44}"/>
              </a:ext>
            </a:extLst>
          </p:cNvPr>
          <p:cNvSpPr txBox="1"/>
          <p:nvPr/>
        </p:nvSpPr>
        <p:spPr>
          <a:xfrm>
            <a:off x="263951" y="197963"/>
            <a:ext cx="7965649"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SMF Key Responsibilities</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6EA541D-21F2-0111-B409-7CEB36E86AB7}"/>
              </a:ext>
            </a:extLst>
          </p:cNvPr>
          <p:cNvSpPr txBox="1"/>
          <p:nvPr/>
        </p:nvSpPr>
        <p:spPr>
          <a:xfrm>
            <a:off x="1051089" y="1684841"/>
            <a:ext cx="4114800" cy="4093428"/>
          </a:xfrm>
          <a:prstGeom prst="rect">
            <a:avLst/>
          </a:prstGeom>
          <a:solidFill>
            <a:schemeClr val="accent2">
              <a:alpha val="50000"/>
            </a:schemeClr>
          </a:solidFill>
          <a:ln>
            <a:solidFill>
              <a:schemeClr val="accent1">
                <a:lumMod val="50000"/>
              </a:schemeClr>
            </a:solidFill>
          </a:ln>
        </p:spPr>
        <p:style>
          <a:lnRef idx="0">
            <a:scrgbClr r="0" g="0" b="0"/>
          </a:lnRef>
          <a:fillRef idx="0">
            <a:scrgbClr r="0" g="0" b="0"/>
          </a:fillRef>
          <a:effectRef idx="0">
            <a:scrgbClr r="0" g="0" b="0"/>
          </a:effectRef>
          <a:fontRef idx="minor">
            <a:schemeClr val="lt1"/>
          </a:fontRef>
        </p:style>
        <p:txBody>
          <a:bodyPr wrap="square">
            <a:spAutoFit/>
          </a:bodyPr>
          <a:lstStyle/>
          <a:p>
            <a:pPr>
              <a:spcAft>
                <a:spcPts val="600"/>
              </a:spcAft>
              <a:defRPr sz="1400">
                <a:solidFill>
                  <a:srgbClr val="1E293B"/>
                </a:solidFill>
              </a:defRPr>
            </a:pPr>
            <a:r>
              <a:rPr sz="2400" dirty="0"/>
              <a:t>• Session establishment, modification, and release</a:t>
            </a:r>
          </a:p>
          <a:p>
            <a:pPr>
              <a:spcAft>
                <a:spcPts val="600"/>
              </a:spcAft>
              <a:defRPr sz="1400">
                <a:solidFill>
                  <a:srgbClr val="1E293B"/>
                </a:solidFill>
              </a:defRPr>
            </a:pPr>
            <a:r>
              <a:rPr sz="2400" dirty="0"/>
              <a:t>• UE IP address allocation (DHCPv4/v6)</a:t>
            </a:r>
          </a:p>
          <a:p>
            <a:pPr>
              <a:spcAft>
                <a:spcPts val="600"/>
              </a:spcAft>
              <a:defRPr sz="1400">
                <a:solidFill>
                  <a:srgbClr val="1E293B"/>
                </a:solidFill>
              </a:defRPr>
            </a:pPr>
            <a:r>
              <a:rPr sz="2400" dirty="0"/>
              <a:t>• UPF selection based on DNN, S-NSSAI, location</a:t>
            </a:r>
          </a:p>
          <a:p>
            <a:pPr>
              <a:spcAft>
                <a:spcPts val="600"/>
              </a:spcAft>
              <a:defRPr sz="1400">
                <a:solidFill>
                  <a:srgbClr val="1E293B"/>
                </a:solidFill>
              </a:defRPr>
            </a:pPr>
            <a:r>
              <a:rPr sz="2400" dirty="0"/>
              <a:t>• PFCP session management (PDR/FAR/QER/URR rules)</a:t>
            </a:r>
          </a:p>
          <a:p>
            <a:pPr>
              <a:spcAft>
                <a:spcPts val="600"/>
              </a:spcAft>
              <a:defRPr sz="1400">
                <a:solidFill>
                  <a:srgbClr val="1E293B"/>
                </a:solidFill>
              </a:defRPr>
            </a:pPr>
            <a:r>
              <a:rPr sz="2400" dirty="0"/>
              <a:t>• QoS flow creation and mapping</a:t>
            </a:r>
          </a:p>
        </p:txBody>
      </p:sp>
      <p:sp>
        <p:nvSpPr>
          <p:cNvPr id="12" name="TextBox 11">
            <a:extLst>
              <a:ext uri="{FF2B5EF4-FFF2-40B4-BE49-F238E27FC236}">
                <a16:creationId xmlns:a16="http://schemas.microsoft.com/office/drawing/2014/main" id="{3295F0FD-1DCB-6DB2-7318-AA8085A9DCFE}"/>
              </a:ext>
            </a:extLst>
          </p:cNvPr>
          <p:cNvSpPr txBox="1"/>
          <p:nvPr/>
        </p:nvSpPr>
        <p:spPr>
          <a:xfrm>
            <a:off x="6784157" y="1641956"/>
            <a:ext cx="4114800" cy="4108817"/>
          </a:xfrm>
          <a:prstGeom prst="rect">
            <a:avLst/>
          </a:prstGeom>
          <a:solidFill>
            <a:schemeClr val="accent6">
              <a:alpha val="50000"/>
            </a:schemeClr>
          </a:solidFill>
          <a:ln>
            <a:solidFill>
              <a:schemeClr val="accent1">
                <a:lumMod val="50000"/>
              </a:schemeClr>
            </a:solidFill>
          </a:ln>
        </p:spPr>
        <p:style>
          <a:lnRef idx="0">
            <a:scrgbClr r="0" g="0" b="0"/>
          </a:lnRef>
          <a:fillRef idx="0">
            <a:scrgbClr r="0" g="0" b="0"/>
          </a:fillRef>
          <a:effectRef idx="0">
            <a:scrgbClr r="0" g="0" b="0"/>
          </a:effectRef>
          <a:fontRef idx="minor">
            <a:schemeClr val="lt1"/>
          </a:fontRef>
        </p:style>
        <p:txBody>
          <a:bodyPr wrap="square">
            <a:spAutoFit/>
          </a:bodyPr>
          <a:lstStyle/>
          <a:p>
            <a:pPr>
              <a:spcAft>
                <a:spcPts val="600"/>
              </a:spcAft>
              <a:defRPr sz="1400">
                <a:solidFill>
                  <a:srgbClr val="1E293B"/>
                </a:solidFill>
              </a:defRPr>
            </a:pPr>
            <a:r>
              <a:rPr lang="en-IN" sz="2400" dirty="0"/>
              <a:t>• Session AMBR enforcement</a:t>
            </a:r>
          </a:p>
          <a:p>
            <a:pPr>
              <a:spcAft>
                <a:spcPts val="600"/>
              </a:spcAft>
              <a:defRPr sz="1400">
                <a:solidFill>
                  <a:srgbClr val="1E293B"/>
                </a:solidFill>
              </a:defRPr>
            </a:pPr>
            <a:r>
              <a:rPr lang="en-IN" sz="2400" dirty="0"/>
              <a:t>• Downlink data notification handling</a:t>
            </a:r>
          </a:p>
          <a:p>
            <a:pPr>
              <a:spcAft>
                <a:spcPts val="600"/>
              </a:spcAft>
              <a:defRPr sz="1400">
                <a:solidFill>
                  <a:srgbClr val="1E293B"/>
                </a:solidFill>
              </a:defRPr>
            </a:pPr>
            <a:r>
              <a:rPr lang="en-IN" sz="2400" dirty="0"/>
              <a:t>• Roaming support (V-SMF/H-SMF split)</a:t>
            </a:r>
          </a:p>
          <a:p>
            <a:pPr>
              <a:spcAft>
                <a:spcPts val="600"/>
              </a:spcAft>
              <a:defRPr sz="1400">
                <a:solidFill>
                  <a:srgbClr val="1E293B"/>
                </a:solidFill>
              </a:defRPr>
            </a:pPr>
            <a:r>
              <a:rPr lang="en-IN" sz="2400" dirty="0"/>
              <a:t>• Lawful intercept control</a:t>
            </a:r>
          </a:p>
          <a:p>
            <a:pPr>
              <a:spcAft>
                <a:spcPts val="600"/>
              </a:spcAft>
              <a:defRPr sz="1400">
                <a:solidFill>
                  <a:srgbClr val="1E293B"/>
                </a:solidFill>
              </a:defRPr>
            </a:pPr>
            <a:r>
              <a:rPr lang="en-IN" sz="2400" dirty="0"/>
              <a:t>• Policy enforcement from PCF</a:t>
            </a:r>
          </a:p>
          <a:p>
            <a:pPr>
              <a:spcAft>
                <a:spcPts val="600"/>
              </a:spcAft>
              <a:defRPr sz="1400">
                <a:solidFill>
                  <a:srgbClr val="1E293B"/>
                </a:solidFill>
              </a:defRPr>
            </a:pPr>
            <a:endParaRPr lang="en-IN" sz="4400" dirty="0"/>
          </a:p>
        </p:txBody>
      </p:sp>
    </p:spTree>
    <p:extLst>
      <p:ext uri="{BB962C8B-B14F-4D97-AF65-F5344CB8AC3E}">
        <p14:creationId xmlns:p14="http://schemas.microsoft.com/office/powerpoint/2010/main" val="106822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15BC-143E-6A2B-70A3-311A34AC3A62}"/>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8900FB30-071D-73D2-3BF2-81C0B4B77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A2059EE-1175-A3F9-7FC4-BDF9AA12199C}"/>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748B2C5-0F96-34CF-E130-753FC4E14617}"/>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5" name="TextBox 4">
            <a:extLst>
              <a:ext uri="{FF2B5EF4-FFF2-40B4-BE49-F238E27FC236}">
                <a16:creationId xmlns:a16="http://schemas.microsoft.com/office/drawing/2014/main" id="{35FC1EB7-E0E1-17A6-FE01-295E5726032C}"/>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08CA729-C6A7-0E51-7AEE-D0C4280650D1}"/>
              </a:ext>
            </a:extLst>
          </p:cNvPr>
          <p:cNvSpPr txBox="1"/>
          <p:nvPr/>
        </p:nvSpPr>
        <p:spPr>
          <a:xfrm>
            <a:off x="179109" y="235670"/>
            <a:ext cx="7126664"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5G Core Architecture</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5A49396-3DF5-4500-E51A-4D2CC4555288}"/>
              </a:ext>
            </a:extLst>
          </p:cNvPr>
          <p:cNvSpPr txBox="1"/>
          <p:nvPr/>
        </p:nvSpPr>
        <p:spPr>
          <a:xfrm>
            <a:off x="1" y="1140643"/>
            <a:ext cx="12191999" cy="5047536"/>
          </a:xfrm>
          <a:prstGeom prst="rect">
            <a:avLst/>
          </a:prstGeom>
          <a:solidFill>
            <a:schemeClr val="tx2">
              <a:lumMod val="90000"/>
              <a:lumOff val="10000"/>
            </a:schemeClr>
          </a:solidFill>
        </p:spPr>
        <p:txBody>
          <a:bodyPr wrap="square">
            <a:spAutoFit/>
          </a:bodyPr>
          <a:lstStyle/>
          <a:p>
            <a:pPr algn="ctr">
              <a:lnSpc>
                <a:spcPct val="150000"/>
              </a:lnSpc>
              <a:defRPr sz="2000">
                <a:solidFill>
                  <a:srgbClr val="1C7293"/>
                </a:solidFill>
              </a:defRPr>
            </a:pPr>
            <a:endParaRPr lang="en-IN" dirty="0"/>
          </a:p>
          <a:p>
            <a:pPr algn="ctr">
              <a:lnSpc>
                <a:spcPct val="150000"/>
              </a:lnSpc>
              <a:defRPr sz="2000">
                <a:solidFill>
                  <a:srgbClr val="1C7293"/>
                </a:solidFill>
              </a:defRPr>
            </a:pPr>
            <a:endParaRPr lang="en-US" dirty="0"/>
          </a:p>
          <a:p>
            <a:pPr algn="ctr">
              <a:lnSpc>
                <a:spcPct val="150000"/>
              </a:lnSpc>
              <a:defRPr sz="2000">
                <a:solidFill>
                  <a:srgbClr val="1C7293"/>
                </a:solidFill>
              </a:defRPr>
            </a:pPr>
            <a:endParaRPr lang="en-US" dirty="0"/>
          </a:p>
          <a:p>
            <a:pPr algn="ctr">
              <a:lnSpc>
                <a:spcPct val="150000"/>
              </a:lnSpc>
              <a:defRPr sz="2000">
                <a:solidFill>
                  <a:srgbClr val="1C7293"/>
                </a:solidFill>
              </a:defRPr>
            </a:pPr>
            <a:r>
              <a:rPr sz="48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Service-Based Architecture</a:t>
            </a:r>
            <a:endParaRPr lang="en-IN" sz="48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p:txBody>
      </p:sp>
    </p:spTree>
    <p:extLst>
      <p:ext uri="{BB962C8B-B14F-4D97-AF65-F5344CB8AC3E}">
        <p14:creationId xmlns:p14="http://schemas.microsoft.com/office/powerpoint/2010/main" val="2942365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2A2F1-4698-E62B-8626-C85FBAB484CF}"/>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8236354E-F8A1-E4FB-80C7-74FE937EF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90C608E-9D6F-49A3-E62E-5468208164CD}"/>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771908A-5365-1F1C-CA7C-710CBA270FB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6</a:t>
            </a:fld>
            <a:endParaRPr lang="en-US" dirty="0">
              <a:solidFill>
                <a:schemeClr val="tx1"/>
              </a:solidFill>
            </a:endParaRPr>
          </a:p>
        </p:txBody>
      </p:sp>
      <p:pic>
        <p:nvPicPr>
          <p:cNvPr id="7" name="Picture 6">
            <a:extLst>
              <a:ext uri="{FF2B5EF4-FFF2-40B4-BE49-F238E27FC236}">
                <a16:creationId xmlns:a16="http://schemas.microsoft.com/office/drawing/2014/main" id="{300A4F7C-32BF-9541-B19F-7EFF0179BFC7}"/>
              </a:ext>
            </a:extLst>
          </p:cNvPr>
          <p:cNvPicPr>
            <a:picLocks noChangeAspect="1"/>
          </p:cNvPicPr>
          <p:nvPr/>
        </p:nvPicPr>
        <p:blipFill>
          <a:blip r:embed="rId3"/>
          <a:stretch>
            <a:fillRect/>
          </a:stretch>
        </p:blipFill>
        <p:spPr>
          <a:xfrm>
            <a:off x="0" y="-1"/>
            <a:ext cx="12192000" cy="6360705"/>
          </a:xfrm>
          <a:prstGeom prst="rect">
            <a:avLst/>
          </a:prstGeom>
          <a:ln>
            <a:solidFill>
              <a:schemeClr val="bg1">
                <a:lumMod val="75000"/>
              </a:schemeClr>
            </a:solidFill>
          </a:ln>
        </p:spPr>
      </p:pic>
    </p:spTree>
    <p:extLst>
      <p:ext uri="{BB962C8B-B14F-4D97-AF65-F5344CB8AC3E}">
        <p14:creationId xmlns:p14="http://schemas.microsoft.com/office/powerpoint/2010/main" val="4190007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2817C-120A-5CC7-180B-12D161AD113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815726C-7496-9671-602B-740BF01A8C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1537B37-628B-9647-804C-355D4068968B}"/>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B7A5DC0-BC5B-4556-0EE4-671DECE85D88}"/>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4" name="TextBox 3">
            <a:extLst>
              <a:ext uri="{FF2B5EF4-FFF2-40B4-BE49-F238E27FC236}">
                <a16:creationId xmlns:a16="http://schemas.microsoft.com/office/drawing/2014/main" id="{048E8E73-4B57-026E-B636-D12204BA3806}"/>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2A864957-49E0-CB62-1841-F785FB8F9547}"/>
              </a:ext>
            </a:extLst>
          </p:cNvPr>
          <p:cNvSpPr txBox="1"/>
          <p:nvPr/>
        </p:nvSpPr>
        <p:spPr>
          <a:xfrm>
            <a:off x="2209800" y="1848597"/>
            <a:ext cx="7772400" cy="3703578"/>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N11 (AMF-SMF): NAS SM messages and session context</a:t>
            </a:r>
          </a:p>
          <a:p>
            <a:pPr>
              <a:spcBef>
                <a:spcPts val="800"/>
              </a:spcBef>
              <a:spcAft>
                <a:spcPts val="800"/>
              </a:spcAft>
              <a:defRPr sz="1600">
                <a:solidFill>
                  <a:srgbClr val="1E293B"/>
                </a:solidFill>
              </a:defRPr>
            </a:pPr>
            <a:r>
              <a:rPr sz="2400" dirty="0"/>
              <a:t>• N4 (SMF-UPF): PFCP protocol for packet processing rules</a:t>
            </a:r>
          </a:p>
          <a:p>
            <a:pPr>
              <a:spcBef>
                <a:spcPts val="800"/>
              </a:spcBef>
              <a:spcAft>
                <a:spcPts val="800"/>
              </a:spcAft>
              <a:defRPr sz="1600">
                <a:solidFill>
                  <a:srgbClr val="1E293B"/>
                </a:solidFill>
              </a:defRPr>
            </a:pPr>
            <a:r>
              <a:rPr sz="2400" dirty="0"/>
              <a:t>• N7 (SMF-PCF): Policy and charging control rules (PCC)</a:t>
            </a:r>
          </a:p>
          <a:p>
            <a:pPr>
              <a:spcBef>
                <a:spcPts val="800"/>
              </a:spcBef>
              <a:spcAft>
                <a:spcPts val="800"/>
              </a:spcAft>
              <a:defRPr sz="1600">
                <a:solidFill>
                  <a:srgbClr val="1E293B"/>
                </a:solidFill>
              </a:defRPr>
            </a:pPr>
            <a:r>
              <a:rPr sz="2400" dirty="0"/>
              <a:t>• N10 (SMF-UDM): Subscription data retrieval</a:t>
            </a:r>
          </a:p>
          <a:p>
            <a:pPr>
              <a:spcBef>
                <a:spcPts val="800"/>
              </a:spcBef>
              <a:spcAft>
                <a:spcPts val="800"/>
              </a:spcAft>
              <a:defRPr sz="1600">
                <a:solidFill>
                  <a:srgbClr val="1E293B"/>
                </a:solidFill>
              </a:defRPr>
            </a:pPr>
            <a:r>
              <a:rPr sz="2400" dirty="0"/>
              <a:t>• N3 (</a:t>
            </a:r>
            <a:r>
              <a:rPr sz="2400" dirty="0" err="1"/>
              <a:t>gNB</a:t>
            </a:r>
            <a:r>
              <a:rPr sz="2400" dirty="0"/>
              <a:t>-UPF): GTP-U user plane tunnel</a:t>
            </a:r>
          </a:p>
          <a:p>
            <a:pPr>
              <a:spcBef>
                <a:spcPts val="800"/>
              </a:spcBef>
              <a:spcAft>
                <a:spcPts val="800"/>
              </a:spcAft>
              <a:defRPr sz="1600">
                <a:solidFill>
                  <a:srgbClr val="1E293B"/>
                </a:solidFill>
              </a:defRPr>
            </a:pPr>
            <a:r>
              <a:rPr sz="2400" dirty="0"/>
              <a:t>• N6 (UPF-DN): Connection to external data network</a:t>
            </a:r>
          </a:p>
        </p:txBody>
      </p:sp>
      <p:sp>
        <p:nvSpPr>
          <p:cNvPr id="7" name="TextBox 6">
            <a:extLst>
              <a:ext uri="{FF2B5EF4-FFF2-40B4-BE49-F238E27FC236}">
                <a16:creationId xmlns:a16="http://schemas.microsoft.com/office/drawing/2014/main" id="{96EAC395-28F4-8D08-BC71-DF73E60BC027}"/>
              </a:ext>
            </a:extLst>
          </p:cNvPr>
          <p:cNvSpPr txBox="1"/>
          <p:nvPr/>
        </p:nvSpPr>
        <p:spPr>
          <a:xfrm>
            <a:off x="108630" y="236364"/>
            <a:ext cx="9704673"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Key Interfaces &amp; Network Functions</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710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B852D-E4E6-FD03-7D72-6E6A37FD14FC}"/>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DE52498-6213-1D11-7ED1-584EB164D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BADC5D7-0466-D1C8-C94D-4AA6DA1142DC}"/>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C193204-6826-4E6F-AF26-89A8DDD7705E}"/>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8</a:t>
            </a:fld>
            <a:endParaRPr lang="en-US" dirty="0">
              <a:solidFill>
                <a:schemeClr val="tx1"/>
              </a:solidFill>
            </a:endParaRPr>
          </a:p>
        </p:txBody>
      </p:sp>
      <p:sp>
        <p:nvSpPr>
          <p:cNvPr id="5" name="TextBox 4">
            <a:extLst>
              <a:ext uri="{FF2B5EF4-FFF2-40B4-BE49-F238E27FC236}">
                <a16:creationId xmlns:a16="http://schemas.microsoft.com/office/drawing/2014/main" id="{D5FC6A23-C97C-C109-0901-777E1B7F6048}"/>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2E8AAA62-27D5-4C40-FB14-23779423FEC0}"/>
              </a:ext>
            </a:extLst>
          </p:cNvPr>
          <p:cNvSpPr txBox="1"/>
          <p:nvPr/>
        </p:nvSpPr>
        <p:spPr>
          <a:xfrm>
            <a:off x="-419271" y="312516"/>
            <a:ext cx="8752566" cy="1446550"/>
          </a:xfrm>
          <a:prstGeom prst="rect">
            <a:avLst/>
          </a:prstGeom>
          <a:noFill/>
        </p:spPr>
        <p:txBody>
          <a:bodyPr wrap="square" rtlCol="0">
            <a:spAutoFit/>
          </a:bodyPr>
          <a:lstStyle/>
          <a:p>
            <a:pPr algn="ctr">
              <a:defRPr sz="4400" b="1">
                <a:solidFill>
                  <a:srgbClr val="FFFFFF"/>
                </a:solidFill>
              </a:defRPr>
            </a:pPr>
            <a:r>
              <a:rPr lang="en-IN" dirty="0"/>
              <a:t>PDU Session Establishment</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5074C56-B0C8-B259-BD4F-24373B161F11}"/>
              </a:ext>
            </a:extLst>
          </p:cNvPr>
          <p:cNvSpPr txBox="1"/>
          <p:nvPr/>
        </p:nvSpPr>
        <p:spPr>
          <a:xfrm>
            <a:off x="1" y="1140643"/>
            <a:ext cx="12191999" cy="5201424"/>
          </a:xfrm>
          <a:prstGeom prst="rect">
            <a:avLst/>
          </a:prstGeom>
          <a:solidFill>
            <a:schemeClr val="tx2">
              <a:lumMod val="90000"/>
              <a:lumOff val="10000"/>
            </a:schemeClr>
          </a:solidFill>
        </p:spPr>
        <p:txBody>
          <a:bodyPr wrap="square">
            <a:spAutoFit/>
          </a:bodyPr>
          <a:lstStyle/>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r>
              <a:rPr lang="en-IN" sz="4400" b="1" dirty="0">
                <a:solidFill>
                  <a:schemeClr val="tx2">
                    <a:lumMod val="10000"/>
                    <a:lumOff val="90000"/>
                  </a:schemeClr>
                </a:solidFill>
                <a:latin typeface="Calibri" panose="020F0502020204030204" pitchFamily="34" charset="0"/>
                <a:ea typeface="Calibri" panose="020F0502020204030204" pitchFamily="34" charset="0"/>
                <a:cs typeface="Calibri" panose="020F0502020204030204" pitchFamily="34" charset="0"/>
              </a:rPr>
              <a:t>12-Step Signalling Flow</a:t>
            </a:r>
          </a:p>
          <a:p>
            <a:pPr algn="ctr">
              <a:defRPr sz="2000">
                <a:solidFill>
                  <a:srgbClr val="1C7293"/>
                </a:solidFill>
              </a:defRPr>
            </a:pPr>
            <a:endParaRPr lang="en-IN" sz="6000" b="1" dirty="0">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IN" sz="4400" b="1" dirty="0">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IN" sz="4400" b="1" dirty="0">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IN" dirty="0"/>
          </a:p>
        </p:txBody>
      </p:sp>
    </p:spTree>
    <p:extLst>
      <p:ext uri="{BB962C8B-B14F-4D97-AF65-F5344CB8AC3E}">
        <p14:creationId xmlns:p14="http://schemas.microsoft.com/office/powerpoint/2010/main" val="260229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976FC-2D64-3EA0-CD59-FBA4597ECB36}"/>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23C07A8-F0D9-C953-9EA8-DAFDBF5BDC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E01ECC7-AE8B-5497-E2E2-48A22D7C0054}"/>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8AB6700-6E9D-7F3B-33AC-9A57740AF4D9}"/>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9</a:t>
            </a:fld>
            <a:endParaRPr lang="en-US" dirty="0">
              <a:solidFill>
                <a:schemeClr val="tx1"/>
              </a:solidFill>
            </a:endParaRPr>
          </a:p>
        </p:txBody>
      </p:sp>
      <p:pic>
        <p:nvPicPr>
          <p:cNvPr id="9" name="Picture 8">
            <a:extLst>
              <a:ext uri="{FF2B5EF4-FFF2-40B4-BE49-F238E27FC236}">
                <a16:creationId xmlns:a16="http://schemas.microsoft.com/office/drawing/2014/main" id="{19CC6F38-02D5-44CD-6751-33CB9B6EFA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4416" y="-13608"/>
            <a:ext cx="9469171" cy="6506483"/>
          </a:xfrm>
          <a:prstGeom prst="rect">
            <a:avLst/>
          </a:prstGeom>
        </p:spPr>
      </p:pic>
    </p:spTree>
    <p:extLst>
      <p:ext uri="{BB962C8B-B14F-4D97-AF65-F5344CB8AC3E}">
        <p14:creationId xmlns:p14="http://schemas.microsoft.com/office/powerpoint/2010/main" val="1117820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10B2-B8B5-197B-6666-B6D1C147EF0C}"/>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6F4B252-B185-BCDB-CC92-7AB2E55FD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FDD8719-4C9A-24E8-0341-733EED4EC579}"/>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DFDCD95-9668-4303-67BF-C1117A209909}"/>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4" name="TextBox 3">
            <a:extLst>
              <a:ext uri="{FF2B5EF4-FFF2-40B4-BE49-F238E27FC236}">
                <a16:creationId xmlns:a16="http://schemas.microsoft.com/office/drawing/2014/main" id="{7A96BEDD-5AB9-CE46-BDEA-042A3138CEAC}"/>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0F64FEB7-E549-52F6-048C-69C4796EECE3}"/>
              </a:ext>
            </a:extLst>
          </p:cNvPr>
          <p:cNvSpPr txBox="1"/>
          <p:nvPr/>
        </p:nvSpPr>
        <p:spPr>
          <a:xfrm>
            <a:off x="108630" y="185600"/>
            <a:ext cx="9916998" cy="769441"/>
          </a:xfrm>
          <a:prstGeom prst="rect">
            <a:avLst/>
          </a:prstGeom>
          <a:noFill/>
        </p:spPr>
        <p:txBody>
          <a:bodyPr wrap="square" rtlCol="0">
            <a:spAutoFit/>
          </a:bodyPr>
          <a:lstStyle/>
          <a:p>
            <a:pPr>
              <a:defRPr sz="3600" b="1">
                <a:solidFill>
                  <a:srgbClr val="065A82"/>
                </a:solidFill>
              </a:defRPr>
            </a:pPr>
            <a:r>
              <a:rPr lang="en-IN" sz="4400" dirty="0">
                <a:solidFill>
                  <a:schemeClr val="bg1"/>
                </a:solidFill>
                <a:latin typeface="Calibri" panose="020F0502020204030204" pitchFamily="34" charset="0"/>
                <a:ea typeface="Calibri" panose="020F0502020204030204" pitchFamily="34" charset="0"/>
                <a:cs typeface="Calibri" panose="020F0502020204030204" pitchFamily="34" charset="0"/>
              </a:rPr>
              <a:t>Signalling Flow: Steps 1-6</a:t>
            </a:r>
          </a:p>
        </p:txBody>
      </p:sp>
      <p:sp>
        <p:nvSpPr>
          <p:cNvPr id="7" name="TextBox 6">
            <a:extLst>
              <a:ext uri="{FF2B5EF4-FFF2-40B4-BE49-F238E27FC236}">
                <a16:creationId xmlns:a16="http://schemas.microsoft.com/office/drawing/2014/main" id="{E7E08918-2687-18C0-286C-C4620753F9E2}"/>
              </a:ext>
            </a:extLst>
          </p:cNvPr>
          <p:cNvSpPr txBox="1"/>
          <p:nvPr/>
        </p:nvSpPr>
        <p:spPr>
          <a:xfrm>
            <a:off x="2303948" y="1311970"/>
            <a:ext cx="7772400" cy="5180905"/>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Step 1: UE → AMF: NAS PDU Session Establishment Request</a:t>
            </a:r>
          </a:p>
          <a:p>
            <a:pPr>
              <a:spcBef>
                <a:spcPts val="800"/>
              </a:spcBef>
              <a:spcAft>
                <a:spcPts val="800"/>
              </a:spcAft>
              <a:defRPr sz="1600">
                <a:solidFill>
                  <a:srgbClr val="1E293B"/>
                </a:solidFill>
              </a:defRPr>
            </a:pPr>
            <a:r>
              <a:rPr sz="2400" dirty="0"/>
              <a:t>• Step 2: AMF → SMF: </a:t>
            </a:r>
            <a:r>
              <a:rPr sz="2400" dirty="0" err="1"/>
              <a:t>Nsmf_CreateSMContext</a:t>
            </a:r>
            <a:endParaRPr sz="2400" dirty="0"/>
          </a:p>
          <a:p>
            <a:pPr>
              <a:spcBef>
                <a:spcPts val="800"/>
              </a:spcBef>
              <a:spcAft>
                <a:spcPts val="800"/>
              </a:spcAft>
              <a:defRPr sz="1600">
                <a:solidFill>
                  <a:srgbClr val="1E293B"/>
                </a:solidFill>
              </a:defRPr>
            </a:pPr>
            <a:r>
              <a:rPr sz="2400" dirty="0"/>
              <a:t>• Step 3: SMF → UDM: Get subscription data (DNN, AMBR, 5QI)</a:t>
            </a:r>
          </a:p>
          <a:p>
            <a:pPr>
              <a:spcBef>
                <a:spcPts val="800"/>
              </a:spcBef>
              <a:spcAft>
                <a:spcPts val="800"/>
              </a:spcAft>
              <a:defRPr sz="1600">
                <a:solidFill>
                  <a:srgbClr val="1E293B"/>
                </a:solidFill>
              </a:defRPr>
            </a:pPr>
            <a:r>
              <a:rPr sz="2400" dirty="0"/>
              <a:t>• Step 4: SMF → PCF: Request PCC rules (session AMBR, QoS)</a:t>
            </a:r>
          </a:p>
          <a:p>
            <a:pPr>
              <a:spcBef>
                <a:spcPts val="800"/>
              </a:spcBef>
              <a:spcAft>
                <a:spcPts val="800"/>
              </a:spcAft>
              <a:defRPr sz="1600">
                <a:solidFill>
                  <a:srgbClr val="1E293B"/>
                </a:solidFill>
              </a:defRPr>
            </a:pPr>
            <a:r>
              <a:rPr sz="2400" dirty="0"/>
              <a:t>• Step 5: SMF → UPF: PFCP Session Establishment (PDRs, FARs, QERs)</a:t>
            </a:r>
          </a:p>
          <a:p>
            <a:pPr>
              <a:spcBef>
                <a:spcPts val="800"/>
              </a:spcBef>
              <a:spcAft>
                <a:spcPts val="800"/>
              </a:spcAft>
              <a:defRPr sz="1600">
                <a:solidFill>
                  <a:srgbClr val="1E293B"/>
                </a:solidFill>
              </a:defRPr>
            </a:pPr>
            <a:r>
              <a:rPr sz="2400" dirty="0"/>
              <a:t>• Step 6: SMF → AMF: N1N2MessageTransfer (NAS Accept, NGAP Setup)</a:t>
            </a:r>
          </a:p>
        </p:txBody>
      </p:sp>
    </p:spTree>
    <p:extLst>
      <p:ext uri="{BB962C8B-B14F-4D97-AF65-F5344CB8AC3E}">
        <p14:creationId xmlns:p14="http://schemas.microsoft.com/office/powerpoint/2010/main" val="4074387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9F300-5BB5-399A-4D57-7DFB49AF6C39}"/>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1C50921-84A8-D84F-6353-6BC367A6F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CF446C3-244B-C021-D991-EE43253C740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962FD67-DD06-2C27-2602-C349FDDE4D62}"/>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4" name="TextBox 3">
            <a:extLst>
              <a:ext uri="{FF2B5EF4-FFF2-40B4-BE49-F238E27FC236}">
                <a16:creationId xmlns:a16="http://schemas.microsoft.com/office/drawing/2014/main" id="{D1E17EDF-9F4F-24E5-6E78-6F840A985A3E}"/>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5720277C-AA7C-5454-D807-E6A893C99411}"/>
              </a:ext>
            </a:extLst>
          </p:cNvPr>
          <p:cNvSpPr txBox="1"/>
          <p:nvPr/>
        </p:nvSpPr>
        <p:spPr>
          <a:xfrm>
            <a:off x="108630" y="185600"/>
            <a:ext cx="9916998" cy="769441"/>
          </a:xfrm>
          <a:prstGeom prst="rect">
            <a:avLst/>
          </a:prstGeom>
          <a:noFill/>
        </p:spPr>
        <p:txBody>
          <a:bodyPr wrap="square" rtlCol="0">
            <a:spAutoFit/>
          </a:bodyPr>
          <a:lstStyle/>
          <a:p>
            <a:pPr>
              <a:defRPr sz="3600" b="1">
                <a:solidFill>
                  <a:srgbClr val="065A82"/>
                </a:solidFill>
              </a:defRPr>
            </a:pPr>
            <a:r>
              <a:rPr lang="en-IN" sz="4400" dirty="0">
                <a:solidFill>
                  <a:schemeClr val="bg1"/>
                </a:solidFill>
                <a:latin typeface="Calibri" panose="020F0502020204030204" pitchFamily="34" charset="0"/>
                <a:ea typeface="Calibri" panose="020F0502020204030204" pitchFamily="34" charset="0"/>
                <a:cs typeface="Calibri" panose="020F0502020204030204" pitchFamily="34" charset="0"/>
              </a:rPr>
              <a:t>Signalling Flow: Steps 7-12</a:t>
            </a:r>
          </a:p>
        </p:txBody>
      </p:sp>
      <p:sp>
        <p:nvSpPr>
          <p:cNvPr id="8" name="TextBox 7">
            <a:extLst>
              <a:ext uri="{FF2B5EF4-FFF2-40B4-BE49-F238E27FC236}">
                <a16:creationId xmlns:a16="http://schemas.microsoft.com/office/drawing/2014/main" id="{6AFB2DA6-9320-8EDA-5E82-DFBC0DADCC79}"/>
              </a:ext>
            </a:extLst>
          </p:cNvPr>
          <p:cNvSpPr txBox="1"/>
          <p:nvPr/>
        </p:nvSpPr>
        <p:spPr>
          <a:xfrm>
            <a:off x="2324649" y="1326243"/>
            <a:ext cx="7772400" cy="5180905"/>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Step 7: AMF → </a:t>
            </a:r>
            <a:r>
              <a:rPr sz="2400" dirty="0" err="1"/>
              <a:t>gNB</a:t>
            </a:r>
            <a:r>
              <a:rPr sz="2400" dirty="0"/>
              <a:t>: PDU Session Resource Setup Request</a:t>
            </a:r>
          </a:p>
          <a:p>
            <a:pPr>
              <a:spcBef>
                <a:spcPts val="800"/>
              </a:spcBef>
              <a:spcAft>
                <a:spcPts val="800"/>
              </a:spcAft>
              <a:defRPr sz="1600">
                <a:solidFill>
                  <a:srgbClr val="1E293B"/>
                </a:solidFill>
              </a:defRPr>
            </a:pPr>
            <a:r>
              <a:rPr sz="2400" dirty="0"/>
              <a:t>• Step 8: </a:t>
            </a:r>
            <a:r>
              <a:rPr sz="2400" dirty="0" err="1"/>
              <a:t>gNB</a:t>
            </a:r>
            <a:r>
              <a:rPr sz="2400" dirty="0"/>
              <a:t> → UE: RRC Reconfiguration (DRB setup + NAS)</a:t>
            </a:r>
          </a:p>
          <a:p>
            <a:pPr>
              <a:spcBef>
                <a:spcPts val="800"/>
              </a:spcBef>
              <a:spcAft>
                <a:spcPts val="800"/>
              </a:spcAft>
              <a:defRPr sz="1600">
                <a:solidFill>
                  <a:srgbClr val="1E293B"/>
                </a:solidFill>
              </a:defRPr>
            </a:pPr>
            <a:r>
              <a:rPr sz="2400" dirty="0"/>
              <a:t>• Step 9: UE → </a:t>
            </a:r>
            <a:r>
              <a:rPr sz="2400" dirty="0" err="1"/>
              <a:t>gNB</a:t>
            </a:r>
            <a:r>
              <a:rPr sz="2400" dirty="0"/>
              <a:t>: RRC Reconfiguration Complete</a:t>
            </a:r>
          </a:p>
          <a:p>
            <a:pPr>
              <a:spcBef>
                <a:spcPts val="800"/>
              </a:spcBef>
              <a:spcAft>
                <a:spcPts val="800"/>
              </a:spcAft>
              <a:defRPr sz="1600">
                <a:solidFill>
                  <a:srgbClr val="1E293B"/>
                </a:solidFill>
              </a:defRPr>
            </a:pPr>
            <a:r>
              <a:rPr sz="2400" dirty="0"/>
              <a:t>• Step 10: </a:t>
            </a:r>
            <a:r>
              <a:rPr sz="2400" dirty="0" err="1"/>
              <a:t>gNB</a:t>
            </a:r>
            <a:r>
              <a:rPr sz="2400" dirty="0"/>
              <a:t> → AMF: Resource Setup Response (</a:t>
            </a:r>
            <a:r>
              <a:rPr sz="2400" dirty="0" err="1"/>
              <a:t>gNB</a:t>
            </a:r>
            <a:r>
              <a:rPr sz="2400" dirty="0"/>
              <a:t> F-TEID)</a:t>
            </a:r>
          </a:p>
          <a:p>
            <a:pPr>
              <a:spcBef>
                <a:spcPts val="800"/>
              </a:spcBef>
              <a:spcAft>
                <a:spcPts val="800"/>
              </a:spcAft>
              <a:defRPr sz="1600">
                <a:solidFill>
                  <a:srgbClr val="1E293B"/>
                </a:solidFill>
              </a:defRPr>
            </a:pPr>
            <a:r>
              <a:rPr sz="2400" dirty="0"/>
              <a:t>• Step 11: AMF → SMF: </a:t>
            </a:r>
            <a:r>
              <a:rPr sz="2400" dirty="0" err="1"/>
              <a:t>Nsmf_UpdateSMContext</a:t>
            </a:r>
            <a:r>
              <a:rPr sz="2400" dirty="0"/>
              <a:t> (</a:t>
            </a:r>
            <a:r>
              <a:rPr sz="2400" dirty="0" err="1"/>
              <a:t>gNB</a:t>
            </a:r>
            <a:r>
              <a:rPr sz="2400" dirty="0"/>
              <a:t> tunnel info)</a:t>
            </a:r>
          </a:p>
          <a:p>
            <a:pPr>
              <a:spcBef>
                <a:spcPts val="800"/>
              </a:spcBef>
              <a:spcAft>
                <a:spcPts val="800"/>
              </a:spcAft>
              <a:defRPr sz="1600">
                <a:solidFill>
                  <a:srgbClr val="1E293B"/>
                </a:solidFill>
              </a:defRPr>
            </a:pPr>
            <a:r>
              <a:rPr sz="2400" dirty="0"/>
              <a:t>• Step 12: SMF → UPF: PFCP Session Modification (DL FAR: BUFFER → FORWARD)</a:t>
            </a:r>
          </a:p>
        </p:txBody>
      </p:sp>
    </p:spTree>
    <p:extLst>
      <p:ext uri="{BB962C8B-B14F-4D97-AF65-F5344CB8AC3E}">
        <p14:creationId xmlns:p14="http://schemas.microsoft.com/office/powerpoint/2010/main" val="2405080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1385-82C9-2E32-DAFE-82BE3AD9372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941B5CB-7342-BE93-C63D-0AB5DC92E1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C78AAC23-620F-5B0A-A8F7-5EE1959239F1}"/>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EA98F80-2F2A-14E2-114F-AA4B5A7D734A}"/>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12</a:t>
            </a:fld>
            <a:endParaRPr lang="en-US" dirty="0">
              <a:solidFill>
                <a:schemeClr val="tx1"/>
              </a:solidFill>
            </a:endParaRPr>
          </a:p>
        </p:txBody>
      </p:sp>
      <p:pic>
        <p:nvPicPr>
          <p:cNvPr id="5" name="Picture 4">
            <a:extLst>
              <a:ext uri="{FF2B5EF4-FFF2-40B4-BE49-F238E27FC236}">
                <a16:creationId xmlns:a16="http://schemas.microsoft.com/office/drawing/2014/main" id="{06989610-13F1-F3E8-C230-01345521B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4025" y="1171485"/>
            <a:ext cx="9549562" cy="4515029"/>
          </a:xfrm>
          <a:prstGeom prst="rect">
            <a:avLst/>
          </a:prstGeom>
        </p:spPr>
      </p:pic>
    </p:spTree>
    <p:extLst>
      <p:ext uri="{BB962C8B-B14F-4D97-AF65-F5344CB8AC3E}">
        <p14:creationId xmlns:p14="http://schemas.microsoft.com/office/powerpoint/2010/main" val="322157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31E1-9D37-854B-C034-BF87DECF4ED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EF7C2D51-60D9-14CD-89CB-8E6E399FE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A92F322E-ECD5-5C2B-D95E-A447D630530A}"/>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23011F98-55B6-7403-3B8B-F9700542C440}"/>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13</a:t>
            </a:fld>
            <a:endParaRPr lang="en-US" dirty="0">
              <a:solidFill>
                <a:schemeClr val="tx1"/>
              </a:solidFill>
            </a:endParaRPr>
          </a:p>
        </p:txBody>
      </p:sp>
      <p:sp>
        <p:nvSpPr>
          <p:cNvPr id="4" name="TextBox 3">
            <a:extLst>
              <a:ext uri="{FF2B5EF4-FFF2-40B4-BE49-F238E27FC236}">
                <a16:creationId xmlns:a16="http://schemas.microsoft.com/office/drawing/2014/main" id="{FDA70F3A-EEF7-3C69-3DAC-7B0BC7AF1C85}"/>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12" name="Rounded Rectangle 2">
            <a:extLst>
              <a:ext uri="{FF2B5EF4-FFF2-40B4-BE49-F238E27FC236}">
                <a16:creationId xmlns:a16="http://schemas.microsoft.com/office/drawing/2014/main" id="{0FD3DA89-DFCF-B1A8-6FAD-820EFA406D34}"/>
              </a:ext>
            </a:extLst>
          </p:cNvPr>
          <p:cNvSpPr/>
          <p:nvPr/>
        </p:nvSpPr>
        <p:spPr>
          <a:xfrm>
            <a:off x="2983584" y="17804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IDLE</a:t>
            </a:r>
          </a:p>
        </p:txBody>
      </p:sp>
      <p:sp>
        <p:nvSpPr>
          <p:cNvPr id="13" name="TextBox 12">
            <a:extLst>
              <a:ext uri="{FF2B5EF4-FFF2-40B4-BE49-F238E27FC236}">
                <a16:creationId xmlns:a16="http://schemas.microsoft.com/office/drawing/2014/main" id="{1006C8F9-B1BC-170C-CB3C-175D1BC13C06}"/>
              </a:ext>
            </a:extLst>
          </p:cNvPr>
          <p:cNvSpPr txBox="1"/>
          <p:nvPr/>
        </p:nvSpPr>
        <p:spPr>
          <a:xfrm>
            <a:off x="6001104" y="1780443"/>
            <a:ext cx="4114800" cy="548640"/>
          </a:xfrm>
          <a:prstGeom prst="rect">
            <a:avLst/>
          </a:prstGeom>
          <a:noFill/>
        </p:spPr>
        <p:txBody>
          <a:bodyPr wrap="none" anchor="ctr">
            <a:spAutoFit/>
          </a:bodyPr>
          <a:lstStyle/>
          <a:p>
            <a:pPr>
              <a:defRPr sz="1200">
                <a:solidFill>
                  <a:srgbClr val="1E293B"/>
                </a:solidFill>
              </a:defRPr>
            </a:pPr>
            <a:r>
              <a:t>No PDU session exists</a:t>
            </a:r>
          </a:p>
        </p:txBody>
      </p:sp>
      <p:sp>
        <p:nvSpPr>
          <p:cNvPr id="14" name="Down Arrow 4">
            <a:extLst>
              <a:ext uri="{FF2B5EF4-FFF2-40B4-BE49-F238E27FC236}">
                <a16:creationId xmlns:a16="http://schemas.microsoft.com/office/drawing/2014/main" id="{91252381-31AD-FF43-4C03-259498A29042}"/>
              </a:ext>
            </a:extLst>
          </p:cNvPr>
          <p:cNvSpPr/>
          <p:nvPr/>
        </p:nvSpPr>
        <p:spPr>
          <a:xfrm>
            <a:off x="4172304" y="23748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5">
            <a:extLst>
              <a:ext uri="{FF2B5EF4-FFF2-40B4-BE49-F238E27FC236}">
                <a16:creationId xmlns:a16="http://schemas.microsoft.com/office/drawing/2014/main" id="{418C27C7-64CE-6086-8CDD-99E9E54B2788}"/>
              </a:ext>
            </a:extLst>
          </p:cNvPr>
          <p:cNvSpPr/>
          <p:nvPr/>
        </p:nvSpPr>
        <p:spPr>
          <a:xfrm>
            <a:off x="2983584" y="24662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SM_CONTEXT_CREATING</a:t>
            </a:r>
          </a:p>
        </p:txBody>
      </p:sp>
      <p:sp>
        <p:nvSpPr>
          <p:cNvPr id="16" name="TextBox 15">
            <a:extLst>
              <a:ext uri="{FF2B5EF4-FFF2-40B4-BE49-F238E27FC236}">
                <a16:creationId xmlns:a16="http://schemas.microsoft.com/office/drawing/2014/main" id="{A54CAEFF-DA48-8B5F-E84E-E5DE36DFE5BA}"/>
              </a:ext>
            </a:extLst>
          </p:cNvPr>
          <p:cNvSpPr txBox="1"/>
          <p:nvPr/>
        </p:nvSpPr>
        <p:spPr>
          <a:xfrm>
            <a:off x="6001104" y="2466243"/>
            <a:ext cx="4114800" cy="548640"/>
          </a:xfrm>
          <a:prstGeom prst="rect">
            <a:avLst/>
          </a:prstGeom>
          <a:noFill/>
        </p:spPr>
        <p:txBody>
          <a:bodyPr wrap="none" anchor="ctr">
            <a:spAutoFit/>
          </a:bodyPr>
          <a:lstStyle/>
          <a:p>
            <a:pPr>
              <a:defRPr sz="1200">
                <a:solidFill>
                  <a:srgbClr val="1E293B"/>
                </a:solidFill>
              </a:defRPr>
            </a:pPr>
            <a:r>
              <a:t>Query UDM, PCF, allocate IP</a:t>
            </a:r>
          </a:p>
        </p:txBody>
      </p:sp>
      <p:sp>
        <p:nvSpPr>
          <p:cNvPr id="17" name="Down Arrow 7">
            <a:extLst>
              <a:ext uri="{FF2B5EF4-FFF2-40B4-BE49-F238E27FC236}">
                <a16:creationId xmlns:a16="http://schemas.microsoft.com/office/drawing/2014/main" id="{B9ABF028-60B8-FBB2-C152-742EB2855DB4}"/>
              </a:ext>
            </a:extLst>
          </p:cNvPr>
          <p:cNvSpPr/>
          <p:nvPr/>
        </p:nvSpPr>
        <p:spPr>
          <a:xfrm>
            <a:off x="4172304" y="30606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8">
            <a:extLst>
              <a:ext uri="{FF2B5EF4-FFF2-40B4-BE49-F238E27FC236}">
                <a16:creationId xmlns:a16="http://schemas.microsoft.com/office/drawing/2014/main" id="{B098987B-7736-80E5-9ACB-1FA66560B027}"/>
              </a:ext>
            </a:extLst>
          </p:cNvPr>
          <p:cNvSpPr/>
          <p:nvPr/>
        </p:nvSpPr>
        <p:spPr>
          <a:xfrm>
            <a:off x="2983584" y="31520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N4_SESSION_SETUP</a:t>
            </a:r>
          </a:p>
        </p:txBody>
      </p:sp>
      <p:sp>
        <p:nvSpPr>
          <p:cNvPr id="19" name="TextBox 18">
            <a:extLst>
              <a:ext uri="{FF2B5EF4-FFF2-40B4-BE49-F238E27FC236}">
                <a16:creationId xmlns:a16="http://schemas.microsoft.com/office/drawing/2014/main" id="{8419760B-E7BC-41B8-C6F4-2E8CDE3CFBDB}"/>
              </a:ext>
            </a:extLst>
          </p:cNvPr>
          <p:cNvSpPr txBox="1"/>
          <p:nvPr/>
        </p:nvSpPr>
        <p:spPr>
          <a:xfrm>
            <a:off x="6001104" y="3152043"/>
            <a:ext cx="4114800" cy="548640"/>
          </a:xfrm>
          <a:prstGeom prst="rect">
            <a:avLst/>
          </a:prstGeom>
          <a:noFill/>
        </p:spPr>
        <p:txBody>
          <a:bodyPr wrap="none" anchor="ctr">
            <a:spAutoFit/>
          </a:bodyPr>
          <a:lstStyle/>
          <a:p>
            <a:pPr>
              <a:defRPr sz="1200">
                <a:solidFill>
                  <a:srgbClr val="1E293B"/>
                </a:solidFill>
              </a:defRPr>
            </a:pPr>
            <a:r>
              <a:t>Create PFCP session on UPF</a:t>
            </a:r>
          </a:p>
        </p:txBody>
      </p:sp>
      <p:sp>
        <p:nvSpPr>
          <p:cNvPr id="20" name="Down Arrow 10">
            <a:extLst>
              <a:ext uri="{FF2B5EF4-FFF2-40B4-BE49-F238E27FC236}">
                <a16:creationId xmlns:a16="http://schemas.microsoft.com/office/drawing/2014/main" id="{3BCDAFDC-EC4C-B6CC-EA6D-DF7699674D25}"/>
              </a:ext>
            </a:extLst>
          </p:cNvPr>
          <p:cNvSpPr/>
          <p:nvPr/>
        </p:nvSpPr>
        <p:spPr>
          <a:xfrm>
            <a:off x="4172304" y="37464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1">
            <a:extLst>
              <a:ext uri="{FF2B5EF4-FFF2-40B4-BE49-F238E27FC236}">
                <a16:creationId xmlns:a16="http://schemas.microsoft.com/office/drawing/2014/main" id="{98579369-049B-CEEC-4FA1-2ECE5EC01E57}"/>
              </a:ext>
            </a:extLst>
          </p:cNvPr>
          <p:cNvSpPr/>
          <p:nvPr/>
        </p:nvSpPr>
        <p:spPr>
          <a:xfrm>
            <a:off x="2983584" y="38378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WAITING_AN_TUNNEL</a:t>
            </a:r>
          </a:p>
        </p:txBody>
      </p:sp>
      <p:sp>
        <p:nvSpPr>
          <p:cNvPr id="22" name="TextBox 21">
            <a:extLst>
              <a:ext uri="{FF2B5EF4-FFF2-40B4-BE49-F238E27FC236}">
                <a16:creationId xmlns:a16="http://schemas.microsoft.com/office/drawing/2014/main" id="{C3C2102A-1725-2580-0180-6F3E8E106586}"/>
              </a:ext>
            </a:extLst>
          </p:cNvPr>
          <p:cNvSpPr txBox="1"/>
          <p:nvPr/>
        </p:nvSpPr>
        <p:spPr>
          <a:xfrm>
            <a:off x="6001104" y="3837843"/>
            <a:ext cx="4114800" cy="548640"/>
          </a:xfrm>
          <a:prstGeom prst="rect">
            <a:avLst/>
          </a:prstGeom>
          <a:noFill/>
        </p:spPr>
        <p:txBody>
          <a:bodyPr wrap="none" anchor="ctr">
            <a:spAutoFit/>
          </a:bodyPr>
          <a:lstStyle/>
          <a:p>
            <a:pPr>
              <a:defRPr sz="1200">
                <a:solidFill>
                  <a:srgbClr val="1E293B"/>
                </a:solidFill>
              </a:defRPr>
            </a:pPr>
            <a:r>
              <a:t>Wait for gNB tunnel info</a:t>
            </a:r>
          </a:p>
        </p:txBody>
      </p:sp>
      <p:sp>
        <p:nvSpPr>
          <p:cNvPr id="23" name="Down Arrow 13">
            <a:extLst>
              <a:ext uri="{FF2B5EF4-FFF2-40B4-BE49-F238E27FC236}">
                <a16:creationId xmlns:a16="http://schemas.microsoft.com/office/drawing/2014/main" id="{3A83CE74-8347-1FDB-CFBF-ECB794327D38}"/>
              </a:ext>
            </a:extLst>
          </p:cNvPr>
          <p:cNvSpPr/>
          <p:nvPr/>
        </p:nvSpPr>
        <p:spPr>
          <a:xfrm>
            <a:off x="4172304" y="44322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14">
            <a:extLst>
              <a:ext uri="{FF2B5EF4-FFF2-40B4-BE49-F238E27FC236}">
                <a16:creationId xmlns:a16="http://schemas.microsoft.com/office/drawing/2014/main" id="{D1D00188-5839-1DD0-0A39-34C0C94106FE}"/>
              </a:ext>
            </a:extLst>
          </p:cNvPr>
          <p:cNvSpPr/>
          <p:nvPr/>
        </p:nvSpPr>
        <p:spPr>
          <a:xfrm>
            <a:off x="2983584" y="45236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N4_SESSION_MODIFYING</a:t>
            </a:r>
          </a:p>
        </p:txBody>
      </p:sp>
      <p:sp>
        <p:nvSpPr>
          <p:cNvPr id="25" name="TextBox 24">
            <a:extLst>
              <a:ext uri="{FF2B5EF4-FFF2-40B4-BE49-F238E27FC236}">
                <a16:creationId xmlns:a16="http://schemas.microsoft.com/office/drawing/2014/main" id="{E7C835A0-970A-0746-D58D-CE7D53BBB967}"/>
              </a:ext>
            </a:extLst>
          </p:cNvPr>
          <p:cNvSpPr txBox="1"/>
          <p:nvPr/>
        </p:nvSpPr>
        <p:spPr>
          <a:xfrm>
            <a:off x="6001104" y="4523643"/>
            <a:ext cx="4114800" cy="548640"/>
          </a:xfrm>
          <a:prstGeom prst="rect">
            <a:avLst/>
          </a:prstGeom>
          <a:noFill/>
        </p:spPr>
        <p:txBody>
          <a:bodyPr wrap="none" anchor="ctr">
            <a:spAutoFit/>
          </a:bodyPr>
          <a:lstStyle/>
          <a:p>
            <a:pPr>
              <a:defRPr sz="1200">
                <a:solidFill>
                  <a:srgbClr val="1E293B"/>
                </a:solidFill>
              </a:defRPr>
            </a:pPr>
            <a:r>
              <a:t>Update DL FAR to FORWARD</a:t>
            </a:r>
          </a:p>
        </p:txBody>
      </p:sp>
      <p:sp>
        <p:nvSpPr>
          <p:cNvPr id="26" name="Down Arrow 16">
            <a:extLst>
              <a:ext uri="{FF2B5EF4-FFF2-40B4-BE49-F238E27FC236}">
                <a16:creationId xmlns:a16="http://schemas.microsoft.com/office/drawing/2014/main" id="{7652CD1D-4DF4-2591-FFBF-7FCBDD932706}"/>
              </a:ext>
            </a:extLst>
          </p:cNvPr>
          <p:cNvSpPr/>
          <p:nvPr/>
        </p:nvSpPr>
        <p:spPr>
          <a:xfrm>
            <a:off x="4172304" y="51180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17">
            <a:extLst>
              <a:ext uri="{FF2B5EF4-FFF2-40B4-BE49-F238E27FC236}">
                <a16:creationId xmlns:a16="http://schemas.microsoft.com/office/drawing/2014/main" id="{39070DDF-FB98-67BF-3163-D1D2BD927E58}"/>
              </a:ext>
            </a:extLst>
          </p:cNvPr>
          <p:cNvSpPr/>
          <p:nvPr/>
        </p:nvSpPr>
        <p:spPr>
          <a:xfrm>
            <a:off x="2983584" y="52094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ACTIVE</a:t>
            </a:r>
          </a:p>
        </p:txBody>
      </p:sp>
      <p:sp>
        <p:nvSpPr>
          <p:cNvPr id="28" name="TextBox 27">
            <a:extLst>
              <a:ext uri="{FF2B5EF4-FFF2-40B4-BE49-F238E27FC236}">
                <a16:creationId xmlns:a16="http://schemas.microsoft.com/office/drawing/2014/main" id="{BD3CA9F5-E4BE-877D-FF4C-74087CCCB1B8}"/>
              </a:ext>
            </a:extLst>
          </p:cNvPr>
          <p:cNvSpPr txBox="1"/>
          <p:nvPr/>
        </p:nvSpPr>
        <p:spPr>
          <a:xfrm>
            <a:off x="6001104" y="5209443"/>
            <a:ext cx="4114800" cy="548640"/>
          </a:xfrm>
          <a:prstGeom prst="rect">
            <a:avLst/>
          </a:prstGeom>
          <a:noFill/>
        </p:spPr>
        <p:txBody>
          <a:bodyPr wrap="none" anchor="ctr">
            <a:spAutoFit/>
          </a:bodyPr>
          <a:lstStyle/>
          <a:p>
            <a:pPr>
              <a:defRPr sz="1200">
                <a:solidFill>
                  <a:srgbClr val="1E293B"/>
                </a:solidFill>
              </a:defRPr>
            </a:pPr>
            <a:r>
              <a:t>User plane data flowing</a:t>
            </a:r>
          </a:p>
        </p:txBody>
      </p:sp>
      <p:sp>
        <p:nvSpPr>
          <p:cNvPr id="29" name="TextBox 28">
            <a:extLst>
              <a:ext uri="{FF2B5EF4-FFF2-40B4-BE49-F238E27FC236}">
                <a16:creationId xmlns:a16="http://schemas.microsoft.com/office/drawing/2014/main" id="{1DA2C561-5FA5-267B-2A19-8916233579FA}"/>
              </a:ext>
            </a:extLst>
          </p:cNvPr>
          <p:cNvSpPr txBox="1"/>
          <p:nvPr/>
        </p:nvSpPr>
        <p:spPr>
          <a:xfrm>
            <a:off x="0" y="1483998"/>
            <a:ext cx="12192000" cy="4685121"/>
          </a:xfrm>
          <a:prstGeom prst="rect">
            <a:avLst/>
          </a:prstGeom>
          <a:noFill/>
          <a:ln>
            <a:solidFill>
              <a:schemeClr val="bg1">
                <a:lumMod val="75000"/>
              </a:schemeClr>
            </a:solidFill>
          </a:ln>
        </p:spPr>
        <p:txBody>
          <a:bodyPr wrap="square" rtlCol="0">
            <a:spAutoFit/>
          </a:bodyPr>
          <a:lstStyle/>
          <a:p>
            <a:endParaRPr lang="en-IN" dirty="0"/>
          </a:p>
        </p:txBody>
      </p:sp>
      <p:sp>
        <p:nvSpPr>
          <p:cNvPr id="30" name="TextBox 29">
            <a:extLst>
              <a:ext uri="{FF2B5EF4-FFF2-40B4-BE49-F238E27FC236}">
                <a16:creationId xmlns:a16="http://schemas.microsoft.com/office/drawing/2014/main" id="{C28A722C-C0E1-FF82-123A-9191FB975063}"/>
              </a:ext>
            </a:extLst>
          </p:cNvPr>
          <p:cNvSpPr txBox="1"/>
          <p:nvPr/>
        </p:nvSpPr>
        <p:spPr>
          <a:xfrm>
            <a:off x="292230" y="167959"/>
            <a:ext cx="9448800" cy="769441"/>
          </a:xfrm>
          <a:prstGeom prst="rect">
            <a:avLst/>
          </a:prstGeom>
          <a:solidFill>
            <a:schemeClr val="accent4">
              <a:lumMod val="60000"/>
              <a:lumOff val="40000"/>
            </a:schemeClr>
          </a:solidFill>
        </p:spPr>
        <p:txBody>
          <a:bodyPr wrap="square" rtlCol="0">
            <a:spAutoFit/>
          </a:bodyPr>
          <a:lstStyle/>
          <a:p>
            <a:pPr>
              <a:defRPr sz="3600" b="1">
                <a:solidFill>
                  <a:srgbClr val="065A82"/>
                </a:solidFill>
              </a:defRPr>
            </a:pPr>
            <a:r>
              <a:rPr lang="en-IN" sz="4400" dirty="0">
                <a:solidFill>
                  <a:schemeClr val="bg1"/>
                </a:solidFill>
                <a:latin typeface="Calibri" panose="020F0502020204030204" pitchFamily="34" charset="0"/>
                <a:ea typeface="Calibri" panose="020F0502020204030204" pitchFamily="34" charset="0"/>
                <a:cs typeface="Calibri" panose="020F0502020204030204" pitchFamily="34" charset="0"/>
              </a:rPr>
              <a:t>SMF PDU Session State Machine</a:t>
            </a:r>
          </a:p>
        </p:txBody>
      </p:sp>
    </p:spTree>
    <p:extLst>
      <p:ext uri="{BB962C8B-B14F-4D97-AF65-F5344CB8AC3E}">
        <p14:creationId xmlns:p14="http://schemas.microsoft.com/office/powerpoint/2010/main" val="2634171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16F3-C30A-7EBC-150C-E0FD13F73CA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9D0F8538-3250-545F-B9AA-73408F376D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D9D0B27-77A4-7921-9AE3-B43F9F40B247}"/>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967F160-9EB4-2A4A-CF6E-983B769F2503}"/>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7" name="TextBox 6">
            <a:extLst>
              <a:ext uri="{FF2B5EF4-FFF2-40B4-BE49-F238E27FC236}">
                <a16:creationId xmlns:a16="http://schemas.microsoft.com/office/drawing/2014/main" id="{99C50527-5B8A-8F8E-F9A0-7A11549F2A24}"/>
              </a:ext>
            </a:extLst>
          </p:cNvPr>
          <p:cNvSpPr txBox="1"/>
          <p:nvPr/>
        </p:nvSpPr>
        <p:spPr>
          <a:xfrm>
            <a:off x="-419271" y="312516"/>
            <a:ext cx="8752566" cy="1446550"/>
          </a:xfrm>
          <a:prstGeom prst="rect">
            <a:avLst/>
          </a:prstGeom>
          <a:noFill/>
        </p:spPr>
        <p:txBody>
          <a:bodyPr wrap="square" rtlCol="0">
            <a:spAutoFit/>
          </a:bodyPr>
          <a:lstStyle/>
          <a:p>
            <a:pPr algn="ctr">
              <a:defRPr sz="4400" b="1">
                <a:solidFill>
                  <a:srgbClr val="FFFFFF"/>
                </a:solidFill>
              </a:defRPr>
            </a:pPr>
            <a:r>
              <a:rPr lang="en-IN" dirty="0"/>
              <a:t>PDU Session Establishment</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32432D7-D564-DE5D-CA1B-F2B1BF0FC151}"/>
              </a:ext>
            </a:extLst>
          </p:cNvPr>
          <p:cNvSpPr txBox="1"/>
          <p:nvPr/>
        </p:nvSpPr>
        <p:spPr>
          <a:xfrm>
            <a:off x="0" y="-6462"/>
            <a:ext cx="12192000" cy="6360705"/>
          </a:xfrm>
          <a:prstGeom prst="rect">
            <a:avLst/>
          </a:prstGeom>
          <a:solidFill>
            <a:schemeClr val="tx2">
              <a:lumMod val="90000"/>
              <a:lumOff val="10000"/>
            </a:schemeClr>
          </a:solidFill>
        </p:spPr>
        <p:txBody>
          <a:bodyPr wrap="square" rtlCol="0">
            <a:spAutoFit/>
          </a:bodyPr>
          <a:lstStyle/>
          <a:p>
            <a:endParaRPr lang="en-IN" dirty="0"/>
          </a:p>
        </p:txBody>
      </p:sp>
      <p:sp>
        <p:nvSpPr>
          <p:cNvPr id="9" name="TextBox 8">
            <a:extLst>
              <a:ext uri="{FF2B5EF4-FFF2-40B4-BE49-F238E27FC236}">
                <a16:creationId xmlns:a16="http://schemas.microsoft.com/office/drawing/2014/main" id="{3E5FD38E-BFD0-8734-F4E3-6456EFDF00C3}"/>
              </a:ext>
            </a:extLst>
          </p:cNvPr>
          <p:cNvSpPr txBox="1"/>
          <p:nvPr/>
        </p:nvSpPr>
        <p:spPr>
          <a:xfrm>
            <a:off x="3874417" y="1978517"/>
            <a:ext cx="5081047"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PFCP PROTOCOL</a:t>
            </a:r>
          </a:p>
        </p:txBody>
      </p:sp>
      <p:sp>
        <p:nvSpPr>
          <p:cNvPr id="10" name="TextBox 9">
            <a:extLst>
              <a:ext uri="{FF2B5EF4-FFF2-40B4-BE49-F238E27FC236}">
                <a16:creationId xmlns:a16="http://schemas.microsoft.com/office/drawing/2014/main" id="{30C592B6-8581-704D-FC5F-499ABF0F4A05}"/>
              </a:ext>
            </a:extLst>
          </p:cNvPr>
          <p:cNvSpPr txBox="1"/>
          <p:nvPr/>
        </p:nvSpPr>
        <p:spPr>
          <a:xfrm>
            <a:off x="1813844" y="3105008"/>
            <a:ext cx="8193525" cy="584775"/>
          </a:xfrm>
          <a:prstGeom prst="rect">
            <a:avLst/>
          </a:prstGeom>
          <a:noFill/>
        </p:spPr>
        <p:txBody>
          <a:bodyPr wrap="none">
            <a:spAutoFit/>
          </a:bodyPr>
          <a:lstStyle/>
          <a:p>
            <a:pPr algn="ctr">
              <a:defRPr sz="2000">
                <a:solidFill>
                  <a:srgbClr val="1C7293"/>
                </a:solidFill>
              </a:defRPr>
            </a:pPr>
            <a:r>
              <a:rPr sz="3200" b="1" dirty="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Packet Forwarding Control Protocol (TS 29.244)</a:t>
            </a:r>
          </a:p>
        </p:txBody>
      </p:sp>
    </p:spTree>
    <p:extLst>
      <p:ext uri="{BB962C8B-B14F-4D97-AF65-F5344CB8AC3E}">
        <p14:creationId xmlns:p14="http://schemas.microsoft.com/office/powerpoint/2010/main" val="2632031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0F109-9BB0-F563-8FEC-5274824B2DE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2B9D31B2-E019-4213-11EC-07C4AE9DD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BBD3BF9-9C6A-8F81-D5A5-5EB613AF5D6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DE7A1A8-A65C-3D4B-A1D0-18B0D5B506D0}"/>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4" name="TextBox 3">
            <a:extLst>
              <a:ext uri="{FF2B5EF4-FFF2-40B4-BE49-F238E27FC236}">
                <a16:creationId xmlns:a16="http://schemas.microsoft.com/office/drawing/2014/main" id="{D2D461A2-3D1F-7C62-4CA6-39534694DDEF}"/>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1BCF4A11-AE01-5403-28E5-5BC9D9C70DE8}"/>
              </a:ext>
            </a:extLst>
          </p:cNvPr>
          <p:cNvSpPr txBox="1"/>
          <p:nvPr/>
        </p:nvSpPr>
        <p:spPr>
          <a:xfrm>
            <a:off x="2209800" y="1454612"/>
            <a:ext cx="7772400" cy="4811574"/>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PDR (Packet Detection Rule): Matches incoming packets</a:t>
            </a:r>
          </a:p>
          <a:p>
            <a:pPr>
              <a:spcBef>
                <a:spcPts val="800"/>
              </a:spcBef>
              <a:spcAft>
                <a:spcPts val="800"/>
              </a:spcAft>
              <a:defRPr sz="1600">
                <a:solidFill>
                  <a:srgbClr val="1E293B"/>
                </a:solidFill>
              </a:defRPr>
            </a:pPr>
            <a:r>
              <a:rPr sz="2400" dirty="0"/>
              <a:t>• FAR (Forwarding Action Rule): FORWARD, DROP, or BUFFER</a:t>
            </a:r>
          </a:p>
          <a:p>
            <a:pPr>
              <a:spcBef>
                <a:spcPts val="800"/>
              </a:spcBef>
              <a:spcAft>
                <a:spcPts val="800"/>
              </a:spcAft>
              <a:defRPr sz="1600">
                <a:solidFill>
                  <a:srgbClr val="1E293B"/>
                </a:solidFill>
              </a:defRPr>
            </a:pPr>
            <a:r>
              <a:rPr sz="2400" dirty="0"/>
              <a:t>• QER (QoS Enforcement Rule): Enforces MBR and GBR bit rates</a:t>
            </a:r>
          </a:p>
          <a:p>
            <a:pPr>
              <a:spcBef>
                <a:spcPts val="800"/>
              </a:spcBef>
              <a:spcAft>
                <a:spcPts val="800"/>
              </a:spcAft>
              <a:defRPr sz="1600">
                <a:solidFill>
                  <a:srgbClr val="1E293B"/>
                </a:solidFill>
              </a:defRPr>
            </a:pPr>
            <a:r>
              <a:rPr sz="2400" dirty="0"/>
              <a:t>• URR (Usage Reporting Rule): Tracks data usage for charging</a:t>
            </a:r>
          </a:p>
          <a:p>
            <a:pPr>
              <a:spcBef>
                <a:spcPts val="800"/>
              </a:spcBef>
              <a:spcAft>
                <a:spcPts val="800"/>
              </a:spcAft>
              <a:defRPr sz="1600">
                <a:solidFill>
                  <a:srgbClr val="1E293B"/>
                </a:solidFill>
              </a:defRPr>
            </a:pPr>
            <a:r>
              <a:rPr sz="2400" dirty="0"/>
              <a:t>• DL FAR initially set to BUFFER (</a:t>
            </a:r>
            <a:r>
              <a:rPr sz="2400" dirty="0" err="1"/>
              <a:t>gNB</a:t>
            </a:r>
            <a:r>
              <a:rPr sz="2400" dirty="0"/>
              <a:t> TEID unknown)</a:t>
            </a:r>
          </a:p>
          <a:p>
            <a:pPr>
              <a:spcBef>
                <a:spcPts val="800"/>
              </a:spcBef>
              <a:spcAft>
                <a:spcPts val="800"/>
              </a:spcAft>
              <a:defRPr sz="1600">
                <a:solidFill>
                  <a:srgbClr val="1E293B"/>
                </a:solidFill>
              </a:defRPr>
            </a:pPr>
            <a:r>
              <a:rPr sz="2400" dirty="0"/>
              <a:t>• After </a:t>
            </a:r>
            <a:r>
              <a:rPr sz="2400" dirty="0" err="1"/>
              <a:t>gNB</a:t>
            </a:r>
            <a:r>
              <a:rPr sz="2400" dirty="0"/>
              <a:t> setup: DL FAR updated to FORWARD with GTP-U encapsulation</a:t>
            </a:r>
          </a:p>
        </p:txBody>
      </p:sp>
      <p:sp>
        <p:nvSpPr>
          <p:cNvPr id="7" name="TextBox 6">
            <a:extLst>
              <a:ext uri="{FF2B5EF4-FFF2-40B4-BE49-F238E27FC236}">
                <a16:creationId xmlns:a16="http://schemas.microsoft.com/office/drawing/2014/main" id="{30D2998C-5FB6-34B4-AF35-9D787AFC2082}"/>
              </a:ext>
            </a:extLst>
          </p:cNvPr>
          <p:cNvSpPr txBox="1"/>
          <p:nvPr/>
        </p:nvSpPr>
        <p:spPr>
          <a:xfrm>
            <a:off x="210976" y="144286"/>
            <a:ext cx="8446416"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PFCP Rules Explained</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9335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AAC51-67F5-764B-923B-C56044A68DF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8901BB7-F78B-15B7-99B2-A72E98E7C0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517CF6A-5F24-0254-9A62-7928611236A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4371BDB-41A5-E519-B673-D102FD1B51C8}"/>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4" name="TextBox 3">
            <a:extLst>
              <a:ext uri="{FF2B5EF4-FFF2-40B4-BE49-F238E27FC236}">
                <a16:creationId xmlns:a16="http://schemas.microsoft.com/office/drawing/2014/main" id="{995B8DA6-A14D-C0FA-CE7B-04AACE7F6A9D}"/>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B43816D8-5EBE-26FE-A5DA-B8DBBCF1555C}"/>
              </a:ext>
            </a:extLst>
          </p:cNvPr>
          <p:cNvSpPr txBox="1"/>
          <p:nvPr/>
        </p:nvSpPr>
        <p:spPr>
          <a:xfrm>
            <a:off x="2209800" y="1988343"/>
            <a:ext cx="7772400" cy="3334246"/>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N3 interface uses GTP-U (GPRS Tunneling Protocol)</a:t>
            </a:r>
          </a:p>
          <a:p>
            <a:pPr>
              <a:spcBef>
                <a:spcPts val="800"/>
              </a:spcBef>
              <a:spcAft>
                <a:spcPts val="800"/>
              </a:spcAft>
              <a:defRPr sz="1600">
                <a:solidFill>
                  <a:srgbClr val="1E293B"/>
                </a:solidFill>
              </a:defRPr>
            </a:pPr>
            <a:r>
              <a:rPr sz="2400" dirty="0"/>
              <a:t>• Each PDU Session has a GTP-U tunnel</a:t>
            </a:r>
          </a:p>
          <a:p>
            <a:pPr>
              <a:spcBef>
                <a:spcPts val="800"/>
              </a:spcBef>
              <a:spcAft>
                <a:spcPts val="800"/>
              </a:spcAft>
              <a:defRPr sz="1600">
                <a:solidFill>
                  <a:srgbClr val="1E293B"/>
                </a:solidFill>
              </a:defRPr>
            </a:pPr>
            <a:r>
              <a:rPr sz="2400" dirty="0"/>
              <a:t>• F-TEID = TEID (32-bit Tunnel Endpoint ID) + IP address</a:t>
            </a:r>
          </a:p>
          <a:p>
            <a:pPr>
              <a:spcBef>
                <a:spcPts val="800"/>
              </a:spcBef>
              <a:spcAft>
                <a:spcPts val="800"/>
              </a:spcAft>
              <a:defRPr sz="1600">
                <a:solidFill>
                  <a:srgbClr val="1E293B"/>
                </a:solidFill>
              </a:defRPr>
            </a:pPr>
            <a:r>
              <a:rPr sz="2400" dirty="0"/>
              <a:t>• Uplink F-TEID: UPF side (from </a:t>
            </a:r>
            <a:r>
              <a:rPr sz="2400" dirty="0" err="1"/>
              <a:t>gNB</a:t>
            </a:r>
            <a:r>
              <a:rPr sz="2400" dirty="0"/>
              <a:t> to UPF)</a:t>
            </a:r>
          </a:p>
          <a:p>
            <a:pPr>
              <a:spcBef>
                <a:spcPts val="800"/>
              </a:spcBef>
              <a:spcAft>
                <a:spcPts val="800"/>
              </a:spcAft>
              <a:defRPr sz="1600">
                <a:solidFill>
                  <a:srgbClr val="1E293B"/>
                </a:solidFill>
              </a:defRPr>
            </a:pPr>
            <a:r>
              <a:rPr sz="2400" dirty="0"/>
              <a:t>• Downlink F-TEID: </a:t>
            </a:r>
            <a:r>
              <a:rPr sz="2400" dirty="0" err="1"/>
              <a:t>gNB</a:t>
            </a:r>
            <a:r>
              <a:rPr sz="2400" dirty="0"/>
              <a:t> side (from UPF to </a:t>
            </a:r>
            <a:r>
              <a:rPr sz="2400" dirty="0" err="1"/>
              <a:t>gNB</a:t>
            </a:r>
            <a:r>
              <a:rPr sz="2400" dirty="0"/>
              <a:t>)</a:t>
            </a:r>
          </a:p>
          <a:p>
            <a:pPr>
              <a:spcBef>
                <a:spcPts val="800"/>
              </a:spcBef>
              <a:spcAft>
                <a:spcPts val="800"/>
              </a:spcAft>
              <a:defRPr sz="1600">
                <a:solidFill>
                  <a:srgbClr val="1E293B"/>
                </a:solidFill>
              </a:defRPr>
            </a:pPr>
            <a:r>
              <a:rPr sz="2400" dirty="0"/>
              <a:t>• SMF coordinates tunnel endpoints via PFCP</a:t>
            </a:r>
          </a:p>
        </p:txBody>
      </p:sp>
      <p:sp>
        <p:nvSpPr>
          <p:cNvPr id="7" name="TextBox 6">
            <a:extLst>
              <a:ext uri="{FF2B5EF4-FFF2-40B4-BE49-F238E27FC236}">
                <a16:creationId xmlns:a16="http://schemas.microsoft.com/office/drawing/2014/main" id="{64325E2D-6E46-F787-2B6B-FF60CEA655A1}"/>
              </a:ext>
            </a:extLst>
          </p:cNvPr>
          <p:cNvSpPr txBox="1"/>
          <p:nvPr/>
        </p:nvSpPr>
        <p:spPr>
          <a:xfrm>
            <a:off x="348791" y="205398"/>
            <a:ext cx="8634953" cy="769441"/>
          </a:xfrm>
          <a:prstGeom prst="rect">
            <a:avLst/>
          </a:prstGeom>
          <a:solidFill>
            <a:schemeClr val="accent4">
              <a:lumMod val="60000"/>
              <a:lumOff val="40000"/>
            </a:schemeClr>
          </a:solid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GTP-U Tunnelling (N3 Interface)</a:t>
            </a:r>
          </a:p>
        </p:txBody>
      </p:sp>
    </p:spTree>
    <p:extLst>
      <p:ext uri="{BB962C8B-B14F-4D97-AF65-F5344CB8AC3E}">
        <p14:creationId xmlns:p14="http://schemas.microsoft.com/office/powerpoint/2010/main" val="188661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CFDC-6EA4-64BC-299C-5DA80C437D4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3D00B29-91B4-5970-0865-1E79D844C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B4E2FAB-C08E-BC19-12A6-1C13F4B8F0EA}"/>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5EC83B4-8B57-3872-9F00-8DC879F2270A}"/>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4" name="TextBox 3">
            <a:extLst>
              <a:ext uri="{FF2B5EF4-FFF2-40B4-BE49-F238E27FC236}">
                <a16:creationId xmlns:a16="http://schemas.microsoft.com/office/drawing/2014/main" id="{5C816FBF-3247-2637-9E2A-A8F3F6EE12E4}"/>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DB631013-DE5B-1193-A305-3FA0F9BB4FB9}"/>
              </a:ext>
            </a:extLst>
          </p:cNvPr>
          <p:cNvSpPr txBox="1"/>
          <p:nvPr/>
        </p:nvSpPr>
        <p:spPr>
          <a:xfrm>
            <a:off x="2093003" y="1823944"/>
            <a:ext cx="7772400" cy="4072910"/>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5QI (5G QoS Identifier): Determines packet delay, error rate</a:t>
            </a:r>
          </a:p>
          <a:p>
            <a:pPr>
              <a:spcBef>
                <a:spcPts val="800"/>
              </a:spcBef>
              <a:spcAft>
                <a:spcPts val="800"/>
              </a:spcAft>
              <a:defRPr sz="1600">
                <a:solidFill>
                  <a:srgbClr val="1E293B"/>
                </a:solidFill>
              </a:defRPr>
            </a:pPr>
            <a:r>
              <a:rPr sz="2400" dirty="0"/>
              <a:t>• QoS Flow: End-to-end QoS treatment (QFI identifier)</a:t>
            </a:r>
          </a:p>
          <a:p>
            <a:pPr>
              <a:spcBef>
                <a:spcPts val="800"/>
              </a:spcBef>
              <a:spcAft>
                <a:spcPts val="800"/>
              </a:spcAft>
              <a:defRPr sz="1600">
                <a:solidFill>
                  <a:srgbClr val="1E293B"/>
                </a:solidFill>
              </a:defRPr>
            </a:pPr>
            <a:r>
              <a:rPr sz="2400" dirty="0"/>
              <a:t>• Session AMBR: Aggregate Maximum Bit Rate for session</a:t>
            </a:r>
          </a:p>
          <a:p>
            <a:pPr>
              <a:spcBef>
                <a:spcPts val="800"/>
              </a:spcBef>
              <a:spcAft>
                <a:spcPts val="800"/>
              </a:spcAft>
              <a:defRPr sz="1600">
                <a:solidFill>
                  <a:srgbClr val="1E293B"/>
                </a:solidFill>
              </a:defRPr>
            </a:pPr>
            <a:r>
              <a:rPr sz="2400" dirty="0"/>
              <a:t>• GBR flows: Guaranteed Bit Rate (voice, video)</a:t>
            </a:r>
          </a:p>
          <a:p>
            <a:pPr>
              <a:spcBef>
                <a:spcPts val="800"/>
              </a:spcBef>
              <a:spcAft>
                <a:spcPts val="800"/>
              </a:spcAft>
              <a:defRPr sz="1600">
                <a:solidFill>
                  <a:srgbClr val="1E293B"/>
                </a:solidFill>
              </a:defRPr>
            </a:pPr>
            <a:r>
              <a:rPr sz="2400" dirty="0"/>
              <a:t>• Non-GBR flows: Best effort (web, downloads)</a:t>
            </a:r>
          </a:p>
          <a:p>
            <a:pPr>
              <a:spcBef>
                <a:spcPts val="800"/>
              </a:spcBef>
              <a:spcAft>
                <a:spcPts val="800"/>
              </a:spcAft>
              <a:defRPr sz="1600">
                <a:solidFill>
                  <a:srgbClr val="1E293B"/>
                </a:solidFill>
              </a:defRPr>
            </a:pPr>
            <a:r>
              <a:rPr sz="2400" dirty="0"/>
              <a:t>• Example: 5QI=1 (</a:t>
            </a:r>
            <a:r>
              <a:rPr sz="2400" dirty="0" err="1"/>
              <a:t>VoNR</a:t>
            </a:r>
            <a:r>
              <a:rPr sz="2400" dirty="0"/>
              <a:t>), 5QI=9 (Internet), 5QI=80 (Low latency)</a:t>
            </a:r>
          </a:p>
        </p:txBody>
      </p:sp>
      <p:sp>
        <p:nvSpPr>
          <p:cNvPr id="7" name="TextBox 6">
            <a:extLst>
              <a:ext uri="{FF2B5EF4-FFF2-40B4-BE49-F238E27FC236}">
                <a16:creationId xmlns:a16="http://schemas.microsoft.com/office/drawing/2014/main" id="{DA289527-99C0-B447-EB8C-1B0485F0D608}"/>
              </a:ext>
            </a:extLst>
          </p:cNvPr>
          <p:cNvSpPr txBox="1"/>
          <p:nvPr/>
        </p:nvSpPr>
        <p:spPr>
          <a:xfrm>
            <a:off x="292231" y="185600"/>
            <a:ext cx="7975076"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5G QoS Model</a:t>
            </a:r>
          </a:p>
        </p:txBody>
      </p:sp>
    </p:spTree>
    <p:extLst>
      <p:ext uri="{BB962C8B-B14F-4D97-AF65-F5344CB8AC3E}">
        <p14:creationId xmlns:p14="http://schemas.microsoft.com/office/powerpoint/2010/main" val="823480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A4A2B-64EA-4618-6110-015EB906B420}"/>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9621E3F1-7385-A40B-4B1D-A7DC6E41E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0C13278-4B1C-C9C4-5C8A-CCBF5DC7C7B8}"/>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925CCD2-16D0-7696-3426-F042FFFA60C4}"/>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18</a:t>
            </a:fld>
            <a:endParaRPr lang="en-US" dirty="0">
              <a:solidFill>
                <a:schemeClr val="tx1"/>
              </a:solidFill>
            </a:endParaRPr>
          </a:p>
        </p:txBody>
      </p:sp>
      <p:sp>
        <p:nvSpPr>
          <p:cNvPr id="5" name="TextBox 4">
            <a:extLst>
              <a:ext uri="{FF2B5EF4-FFF2-40B4-BE49-F238E27FC236}">
                <a16:creationId xmlns:a16="http://schemas.microsoft.com/office/drawing/2014/main" id="{133353C2-2196-8583-B24E-E635EAD49067}"/>
              </a:ext>
            </a:extLst>
          </p:cNvPr>
          <p:cNvSpPr txBox="1"/>
          <p:nvPr/>
        </p:nvSpPr>
        <p:spPr>
          <a:xfrm>
            <a:off x="0" y="0"/>
            <a:ext cx="12192000" cy="6360705"/>
          </a:xfrm>
          <a:prstGeom prst="rect">
            <a:avLst/>
          </a:prstGeom>
          <a:solidFill>
            <a:schemeClr val="tx2">
              <a:lumMod val="90000"/>
              <a:lumOff val="1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BB319C23-0623-FAF0-7470-F9B51BDAF9C8}"/>
              </a:ext>
            </a:extLst>
          </p:cNvPr>
          <p:cNvSpPr txBox="1"/>
          <p:nvPr/>
        </p:nvSpPr>
        <p:spPr>
          <a:xfrm>
            <a:off x="2290713" y="2057400"/>
            <a:ext cx="7315200" cy="1371600"/>
          </a:xfrm>
          <a:prstGeom prst="rect">
            <a:avLst/>
          </a:prstGeom>
          <a:noFill/>
        </p:spPr>
        <p:txBody>
          <a:bodyPr wrap="none">
            <a:spAutoFit/>
          </a:bodyPr>
          <a:lstStyle/>
          <a:p>
            <a:pPr algn="ctr">
              <a:defRPr sz="4400" b="1">
                <a:solidFill>
                  <a:srgbClr val="FFFFFF"/>
                </a:solidFill>
              </a:defRPr>
            </a:pPr>
            <a:r>
              <a:rPr dirty="0"/>
              <a:t>C++ Implementation</a:t>
            </a:r>
          </a:p>
        </p:txBody>
      </p:sp>
      <p:sp>
        <p:nvSpPr>
          <p:cNvPr id="9" name="TextBox 8">
            <a:extLst>
              <a:ext uri="{FF2B5EF4-FFF2-40B4-BE49-F238E27FC236}">
                <a16:creationId xmlns:a16="http://schemas.microsoft.com/office/drawing/2014/main" id="{26615946-C782-2755-96BF-476A27B32EBC}"/>
              </a:ext>
            </a:extLst>
          </p:cNvPr>
          <p:cNvSpPr txBox="1"/>
          <p:nvPr/>
        </p:nvSpPr>
        <p:spPr>
          <a:xfrm>
            <a:off x="3930227" y="3191251"/>
            <a:ext cx="4036170" cy="523220"/>
          </a:xfrm>
          <a:prstGeom prst="rect">
            <a:avLst/>
          </a:prstGeom>
          <a:noFill/>
        </p:spPr>
        <p:txBody>
          <a:bodyPr wrap="none">
            <a:spAutoFit/>
          </a:bodyPr>
          <a:lstStyle/>
          <a:p>
            <a:pPr algn="ctr">
              <a:defRPr sz="2000">
                <a:solidFill>
                  <a:srgbClr val="1C7293"/>
                </a:solidFill>
              </a:defRPr>
            </a:pPr>
            <a:r>
              <a:rPr sz="2800" b="1" dirty="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Complete SMF Simulation</a:t>
            </a:r>
          </a:p>
        </p:txBody>
      </p:sp>
    </p:spTree>
    <p:extLst>
      <p:ext uri="{BB962C8B-B14F-4D97-AF65-F5344CB8AC3E}">
        <p14:creationId xmlns:p14="http://schemas.microsoft.com/office/powerpoint/2010/main" val="2708291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4EE9-5376-C4FC-6142-BC187B6C64C2}"/>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AD9FCF2-38FF-609C-20FE-343D267D9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76D9CE7-99E0-DD93-87E3-D0B8E926EEE6}"/>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DE28B46-91F5-F780-902D-85D42BB5DF61}"/>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4" name="TextBox 3">
            <a:extLst>
              <a:ext uri="{FF2B5EF4-FFF2-40B4-BE49-F238E27FC236}">
                <a16:creationId xmlns:a16="http://schemas.microsoft.com/office/drawing/2014/main" id="{CBD9340C-A62F-12AF-6BD2-955F2A36391E}"/>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56695A2C-2112-1252-7428-F50CDDEA0BD8}"/>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8" name="Picture 7">
            <a:extLst>
              <a:ext uri="{FF2B5EF4-FFF2-40B4-BE49-F238E27FC236}">
                <a16:creationId xmlns:a16="http://schemas.microsoft.com/office/drawing/2014/main" id="{FF97C49A-7878-4BC9-5389-98C0C1B05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40642"/>
            <a:ext cx="4817097" cy="5078313"/>
          </a:xfrm>
          <a:prstGeom prst="rect">
            <a:avLst/>
          </a:prstGeom>
        </p:spPr>
      </p:pic>
      <p:sp>
        <p:nvSpPr>
          <p:cNvPr id="9" name="TextBox 8">
            <a:extLst>
              <a:ext uri="{FF2B5EF4-FFF2-40B4-BE49-F238E27FC236}">
                <a16:creationId xmlns:a16="http://schemas.microsoft.com/office/drawing/2014/main" id="{9FF9EAE3-B464-5693-6375-F38D53F4E0AC}"/>
              </a:ext>
            </a:extLst>
          </p:cNvPr>
          <p:cNvSpPr txBox="1"/>
          <p:nvPr/>
        </p:nvSpPr>
        <p:spPr>
          <a:xfrm>
            <a:off x="4817097" y="1140642"/>
            <a:ext cx="7374903"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solidFill>
                <a:schemeClr val="bg1">
                  <a:lumMod val="95000"/>
                </a:schemeClr>
              </a:solidFill>
            </a:endParaRPr>
          </a:p>
          <a:p>
            <a:pPr lvl="6"/>
            <a:r>
              <a:rPr lang="en-US" b="1" dirty="0">
                <a:solidFill>
                  <a:schemeClr val="bg1">
                    <a:lumMod val="95000"/>
                  </a:schemeClr>
                </a:solidFill>
              </a:rPr>
              <a:t>PHASE : 01</a:t>
            </a:r>
          </a:p>
          <a:p>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defines important enumerations (Enums) used in the 5G PDU Session process. It includes PDU Session Types such as IPv4, IPv6, IPv4v6, Unstructured, and Ethernet.</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also defines Request Types like Initial Request and Modification Request, which indicate how the session is being created or updated. Additionally, the PDU Session State Machine is defined to represent different stages of a session such as Idle, Creating Context, Active, Released, and Error.</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code also defines standard 5QI (5G QoS Identifier) values based on 3GPP specifications. These values represent different service types like conversational traffic, signaling, default internet, and low latency communication. Using Enums improves readability, avoids hardcoding numbers, and ensures alignment with 3GPP standards</a:t>
            </a:r>
          </a:p>
        </p:txBody>
      </p:sp>
    </p:spTree>
    <p:extLst>
      <p:ext uri="{BB962C8B-B14F-4D97-AF65-F5344CB8AC3E}">
        <p14:creationId xmlns:p14="http://schemas.microsoft.com/office/powerpoint/2010/main" val="616378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4B317-E5D2-A483-A538-756886E42D13}"/>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C950DE9-B91D-98CB-E42F-A0453100A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9B727D5-802F-F390-9A98-520A668CF17D}"/>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FB69306-78EB-BC3D-511E-8F5DAFBD0091}"/>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20</a:t>
            </a:fld>
            <a:endParaRPr lang="en-US" dirty="0">
              <a:solidFill>
                <a:schemeClr val="tx1"/>
              </a:solidFill>
            </a:endParaRPr>
          </a:p>
        </p:txBody>
      </p:sp>
      <p:sp>
        <p:nvSpPr>
          <p:cNvPr id="4" name="TextBox 3">
            <a:extLst>
              <a:ext uri="{FF2B5EF4-FFF2-40B4-BE49-F238E27FC236}">
                <a16:creationId xmlns:a16="http://schemas.microsoft.com/office/drawing/2014/main" id="{50789447-3DE1-A351-D0E9-E3781CAB9E3B}"/>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6209A935-1EAE-25EF-361D-0CC6882BE7AF}"/>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2266BAC0-2262-7321-FF5C-250CED9C8090}"/>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915A11AA-F9C2-311E-6E15-2B469433E8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40641"/>
            <a:ext cx="5231876" cy="5078313"/>
          </a:xfrm>
          <a:prstGeom prst="rect">
            <a:avLst/>
          </a:prstGeom>
        </p:spPr>
      </p:pic>
      <p:sp>
        <p:nvSpPr>
          <p:cNvPr id="11" name="TextBox 10">
            <a:extLst>
              <a:ext uri="{FF2B5EF4-FFF2-40B4-BE49-F238E27FC236}">
                <a16:creationId xmlns:a16="http://schemas.microsoft.com/office/drawing/2014/main" id="{C38D7B8B-90F4-5B49-8318-98CE7B5D5C18}"/>
              </a:ext>
            </a:extLst>
          </p:cNvPr>
          <p:cNvSpPr txBox="1"/>
          <p:nvPr/>
        </p:nvSpPr>
        <p:spPr>
          <a:xfrm>
            <a:off x="5231878" y="1139549"/>
            <a:ext cx="6960122" cy="5355312"/>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solidFill>
                <a:schemeClr val="bg1">
                  <a:lumMod val="95000"/>
                </a:schemeClr>
              </a:solidFill>
            </a:endParaRPr>
          </a:p>
          <a:p>
            <a:pPr lvl="6"/>
            <a:r>
              <a:rPr lang="en-US" b="1" dirty="0">
                <a:solidFill>
                  <a:schemeClr val="bg1">
                    <a:lumMod val="95000"/>
                  </a:schemeClr>
                </a:solidFill>
              </a:rPr>
              <a:t>PHASE : 02</a:t>
            </a:r>
          </a:p>
          <a:p>
            <a:pPr lvl="6"/>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defines core data structures required for 5G session management. The S-NSSAI structure represents network slicing information, including SST (Slice Service Type) and SD (Slice Differentiator).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F-TEID structure represents the GTP-U tunnel endpoint identifier, which contains a TEID and IP address for user plane communication.</a:t>
            </a:r>
          </a:p>
          <a:p>
            <a:pPr marL="285750" indent="-285750">
              <a:buFont typeface="Arial" panose="020B0604020202020204" pitchFamily="34" charset="0"/>
              <a:buChar char="•"/>
            </a:pPr>
            <a:r>
              <a:rPr lang="en-US" dirty="0">
                <a:solidFill>
                  <a:schemeClr val="bg1">
                    <a:lumMod val="95000"/>
                  </a:schemeClr>
                </a:solidFill>
              </a:rPr>
              <a:t>It also defines the QoS Flow structure, which stores quality-of-service parameters such as 5QI, priority, GBR (Guaranteed Bit Rate), and MBR (Maximum Bit Rate).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These structures organize network-related information in a structured way and are essential for handling session establishment and data flow management in the 5G Core.</a:t>
            </a:r>
          </a:p>
          <a:p>
            <a:endParaRPr lang="en-US" dirty="0">
              <a:solidFill>
                <a:schemeClr val="bg1">
                  <a:lumMod val="95000"/>
                </a:schemeClr>
              </a:solidFill>
            </a:endParaRPr>
          </a:p>
        </p:txBody>
      </p:sp>
    </p:spTree>
    <p:extLst>
      <p:ext uri="{BB962C8B-B14F-4D97-AF65-F5344CB8AC3E}">
        <p14:creationId xmlns:p14="http://schemas.microsoft.com/office/powerpoint/2010/main" val="3351389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F623F-3234-C104-D714-7129AE317CC3}"/>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78CFE77-9BEF-B285-2519-0BB6BAB3E5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331F984-207D-2EE5-A0D0-D31814571F61}"/>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8BD0ACB-49AD-FF6E-3AE1-1D6232301A8C}"/>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4" name="TextBox 3">
            <a:extLst>
              <a:ext uri="{FF2B5EF4-FFF2-40B4-BE49-F238E27FC236}">
                <a16:creationId xmlns:a16="http://schemas.microsoft.com/office/drawing/2014/main" id="{9990928A-7B01-A270-C191-CA4AB4FD953F}"/>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93CEA513-2FD1-20EE-DAF2-D003577CCEA5}"/>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F5748885-77A6-8A0D-B940-4E8B7F254E57}"/>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04A2D303-70BC-C314-F19E-9062E2A6C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40642"/>
            <a:ext cx="4882958" cy="5078314"/>
          </a:xfrm>
          <a:prstGeom prst="rect">
            <a:avLst/>
          </a:prstGeom>
        </p:spPr>
      </p:pic>
      <p:sp>
        <p:nvSpPr>
          <p:cNvPr id="12" name="TextBox 11">
            <a:extLst>
              <a:ext uri="{FF2B5EF4-FFF2-40B4-BE49-F238E27FC236}">
                <a16:creationId xmlns:a16="http://schemas.microsoft.com/office/drawing/2014/main" id="{059DC605-44EA-5EE7-A8A4-11E585F6D3B1}"/>
              </a:ext>
            </a:extLst>
          </p:cNvPr>
          <p:cNvSpPr txBox="1"/>
          <p:nvPr/>
        </p:nvSpPr>
        <p:spPr>
          <a:xfrm>
            <a:off x="4882958" y="1140642"/>
            <a:ext cx="7309042"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solidFill>
                <a:schemeClr val="bg1">
                  <a:lumMod val="95000"/>
                </a:schemeClr>
              </a:solidFill>
            </a:endParaRPr>
          </a:p>
          <a:p>
            <a:pPr lvl="6"/>
            <a:r>
              <a:rPr lang="en-US" b="1" dirty="0">
                <a:solidFill>
                  <a:schemeClr val="bg1">
                    <a:lumMod val="95000"/>
                  </a:schemeClr>
                </a:solidFill>
              </a:rPr>
              <a:t>PHASE : 03</a:t>
            </a:r>
          </a:p>
          <a:p>
            <a:pPr marL="3028950" lvl="6" indent="-285750">
              <a:buFont typeface="Arial" panose="020B0604020202020204" pitchFamily="34" charset="0"/>
              <a:buChar char="•"/>
            </a:pPr>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implements simulators for core 5G network functions like UDM and PCF. The UDM simulator provides subscriber information such as allowed PDU type, AMBR (Aggregate Maximum Bit Rate), default 5QI, and authorization status.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simulates how real subscription data is fetched in an actual 5G network.</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PCF simulator generates policy decisions for the session. It defines PCC rules and session AMBR values that control how traffic is managed. These simulated network functions help demonstrate how policy control and subscriber management work during PDU session establishment.</a:t>
            </a:r>
          </a:p>
          <a:p>
            <a:endParaRPr lang="en-US" dirty="0">
              <a:solidFill>
                <a:schemeClr val="bg1">
                  <a:lumMod val="95000"/>
                </a:schemeClr>
              </a:solidFill>
            </a:endParaRPr>
          </a:p>
          <a:p>
            <a:endParaRPr lang="en-US" dirty="0">
              <a:solidFill>
                <a:schemeClr val="bg1">
                  <a:lumMod val="95000"/>
                </a:schemeClr>
              </a:solidFill>
            </a:endParaRPr>
          </a:p>
        </p:txBody>
      </p:sp>
    </p:spTree>
    <p:extLst>
      <p:ext uri="{BB962C8B-B14F-4D97-AF65-F5344CB8AC3E}">
        <p14:creationId xmlns:p14="http://schemas.microsoft.com/office/powerpoint/2010/main" val="3017708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EEFD-3A13-D150-1289-88C4BA7F34B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25097E2-FC01-A68F-38C5-7878DD717E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492774E-55F0-E3BC-D958-93F8B55DA0DC}"/>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2081E8A3-8A2B-9B07-AFC9-839A9540BE0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22</a:t>
            </a:fld>
            <a:endParaRPr lang="en-US" dirty="0">
              <a:solidFill>
                <a:schemeClr val="tx1"/>
              </a:solidFill>
            </a:endParaRPr>
          </a:p>
        </p:txBody>
      </p:sp>
      <p:sp>
        <p:nvSpPr>
          <p:cNvPr id="4" name="TextBox 3">
            <a:extLst>
              <a:ext uri="{FF2B5EF4-FFF2-40B4-BE49-F238E27FC236}">
                <a16:creationId xmlns:a16="http://schemas.microsoft.com/office/drawing/2014/main" id="{BA1F1E36-BE83-17EC-7A44-A49BD44AAE2B}"/>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24495EF9-CB9F-383A-5FC2-509E031970DB}"/>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53824F93-C831-B419-41ED-6E895D5E528E}"/>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42ED32E6-77F9-4937-E700-15A1817DFF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40641"/>
            <a:ext cx="5015060" cy="5078313"/>
          </a:xfrm>
          <a:prstGeom prst="rect">
            <a:avLst/>
          </a:prstGeom>
        </p:spPr>
      </p:pic>
      <p:sp>
        <p:nvSpPr>
          <p:cNvPr id="10" name="TextBox 9">
            <a:extLst>
              <a:ext uri="{FF2B5EF4-FFF2-40B4-BE49-F238E27FC236}">
                <a16:creationId xmlns:a16="http://schemas.microsoft.com/office/drawing/2014/main" id="{9313C675-D494-4C2A-9B90-5E06295D7CF6}"/>
              </a:ext>
            </a:extLst>
          </p:cNvPr>
          <p:cNvSpPr txBox="1"/>
          <p:nvPr/>
        </p:nvSpPr>
        <p:spPr>
          <a:xfrm>
            <a:off x="5015061" y="1140642"/>
            <a:ext cx="7176939"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lvl="6"/>
            <a:r>
              <a:rPr lang="en-US" b="1" dirty="0">
                <a:solidFill>
                  <a:schemeClr val="bg1">
                    <a:lumMod val="95000"/>
                  </a:schemeClr>
                </a:solidFill>
              </a:rPr>
              <a:t>PHASE : 04</a:t>
            </a:r>
          </a:p>
          <a:p>
            <a:pPr lvl="6"/>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defines the SMF class, which handles the main session management logic. It interacts with UDM, PCF, and UPF simulators to create and manage PDU sessions.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SMF maintains session contexts, manages state transitions, and allocates IP addresses dynamically.</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also creates PFCP rules for uplink and downlink traffic by configuring PDRs (Packet Detection Rules).</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 The transition function ensures proper movement between session states. This part represents the brain of the PDU session establishment process.</a:t>
            </a:r>
          </a:p>
          <a:p>
            <a:endParaRPr lang="en-US" b="1" dirty="0">
              <a:solidFill>
                <a:schemeClr val="bg1">
                  <a:lumMod val="95000"/>
                </a:schemeClr>
              </a:solidFill>
            </a:endParaRPr>
          </a:p>
          <a:p>
            <a:endParaRPr lang="en-US" b="1" dirty="0">
              <a:solidFill>
                <a:schemeClr val="bg1">
                  <a:lumMod val="95000"/>
                </a:schemeClr>
              </a:solidFill>
            </a:endParaRPr>
          </a:p>
          <a:p>
            <a:endParaRPr lang="en-US" b="1" dirty="0">
              <a:solidFill>
                <a:schemeClr val="bg1">
                  <a:lumMod val="95000"/>
                </a:schemeClr>
              </a:solidFill>
            </a:endParaRPr>
          </a:p>
        </p:txBody>
      </p:sp>
    </p:spTree>
    <p:extLst>
      <p:ext uri="{BB962C8B-B14F-4D97-AF65-F5344CB8AC3E}">
        <p14:creationId xmlns:p14="http://schemas.microsoft.com/office/powerpoint/2010/main" val="2111146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D679-11B1-C4E2-7F4D-B6890296DFF1}"/>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E174B4B5-6302-C37F-2B35-349E84D12D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1E58D1E-0685-A973-8CB6-32F436152493}"/>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0155121-FDAE-E364-B16A-042558B359BF}"/>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23</a:t>
            </a:fld>
            <a:endParaRPr lang="en-US" dirty="0">
              <a:solidFill>
                <a:schemeClr val="tx1"/>
              </a:solidFill>
            </a:endParaRPr>
          </a:p>
        </p:txBody>
      </p:sp>
      <p:sp>
        <p:nvSpPr>
          <p:cNvPr id="4" name="TextBox 3">
            <a:extLst>
              <a:ext uri="{FF2B5EF4-FFF2-40B4-BE49-F238E27FC236}">
                <a16:creationId xmlns:a16="http://schemas.microsoft.com/office/drawing/2014/main" id="{839F7433-4B9E-1379-260D-E5ACD36470FA}"/>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5A03F01A-D028-CD24-D1B8-0448F1D713B1}"/>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F2DE359E-73CB-0CA6-484E-9EEDAFEB1986}"/>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4D4E36B7-12E1-5579-224B-48E2BBD1D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40641"/>
            <a:ext cx="5863472" cy="5078313"/>
          </a:xfrm>
          <a:prstGeom prst="rect">
            <a:avLst/>
          </a:prstGeom>
        </p:spPr>
      </p:pic>
      <p:sp>
        <p:nvSpPr>
          <p:cNvPr id="10" name="TextBox 9">
            <a:extLst>
              <a:ext uri="{FF2B5EF4-FFF2-40B4-BE49-F238E27FC236}">
                <a16:creationId xmlns:a16="http://schemas.microsoft.com/office/drawing/2014/main" id="{55FDE1EC-DC4B-D1E6-F967-82C5968C01A8}"/>
              </a:ext>
            </a:extLst>
          </p:cNvPr>
          <p:cNvSpPr txBox="1"/>
          <p:nvPr/>
        </p:nvSpPr>
        <p:spPr>
          <a:xfrm>
            <a:off x="5863473" y="1140642"/>
            <a:ext cx="6328527"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lvl="6"/>
            <a:endParaRPr lang="en-US" b="1" dirty="0">
              <a:solidFill>
                <a:schemeClr val="bg1">
                  <a:lumMod val="95000"/>
                </a:schemeClr>
              </a:solidFill>
            </a:endParaRPr>
          </a:p>
          <a:p>
            <a:pPr lvl="5"/>
            <a:r>
              <a:rPr lang="en-US" b="1" dirty="0">
                <a:solidFill>
                  <a:schemeClr val="bg1">
                    <a:lumMod val="95000"/>
                  </a:schemeClr>
                </a:solidFill>
              </a:rPr>
              <a:t>PHASE : 05</a:t>
            </a:r>
          </a:p>
          <a:p>
            <a:pPr lvl="6"/>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contains the main function, which starts the complete PDU session simulation. It prints the session establishment steps and sends a PDU session request from UE to AMF and then to SMF.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creates a session context with parameters like IMSI, DNN, slice information, and request type.</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After successful session creation, the program simulates resource setup between AMF and </a:t>
            </a:r>
            <a:r>
              <a:rPr lang="en-US" dirty="0" err="1">
                <a:solidFill>
                  <a:schemeClr val="bg1">
                    <a:lumMod val="95000"/>
                  </a:schemeClr>
                </a:solidFill>
              </a:rPr>
              <a:t>gNB</a:t>
            </a:r>
            <a:r>
              <a:rPr lang="en-US" dirty="0">
                <a:solidFill>
                  <a:schemeClr val="bg1">
                    <a:lumMod val="95000"/>
                  </a:schemeClr>
                </a:solidFill>
              </a:rPr>
              <a:t>, followed by RRC reconfiguration. This demonstrates the full end-to-end PDU session establishment process in a simplified but structured way.</a:t>
            </a:r>
            <a:endParaRPr lang="en-US" b="1" dirty="0">
              <a:solidFill>
                <a:schemeClr val="bg1">
                  <a:lumMod val="95000"/>
                </a:schemeClr>
              </a:solidFill>
            </a:endParaRPr>
          </a:p>
          <a:p>
            <a:pPr lvl="6"/>
            <a:endParaRPr lang="en-US" b="1" dirty="0">
              <a:solidFill>
                <a:schemeClr val="bg1">
                  <a:lumMod val="95000"/>
                </a:schemeClr>
              </a:solidFill>
            </a:endParaRPr>
          </a:p>
          <a:p>
            <a:pPr lvl="6"/>
            <a:endParaRPr lang="en-US" b="1" dirty="0">
              <a:solidFill>
                <a:schemeClr val="bg1">
                  <a:lumMod val="95000"/>
                </a:schemeClr>
              </a:solidFill>
            </a:endParaRPr>
          </a:p>
        </p:txBody>
      </p:sp>
    </p:spTree>
    <p:extLst>
      <p:ext uri="{BB962C8B-B14F-4D97-AF65-F5344CB8AC3E}">
        <p14:creationId xmlns:p14="http://schemas.microsoft.com/office/powerpoint/2010/main" val="1229708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CA44-C0E0-26C3-03BD-B7993FD55731}"/>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0A27C60F-2C9F-1543-BED3-D3E28427F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E22D031-FF2F-3B10-7C0E-28D238D1522F}"/>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8832D26-04AE-666F-0396-CB07A5D5E09A}"/>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24</a:t>
            </a:fld>
            <a:endParaRPr lang="en-US" dirty="0">
              <a:solidFill>
                <a:schemeClr val="tx1"/>
              </a:solidFill>
            </a:endParaRPr>
          </a:p>
        </p:txBody>
      </p:sp>
      <p:sp>
        <p:nvSpPr>
          <p:cNvPr id="4" name="TextBox 3">
            <a:extLst>
              <a:ext uri="{FF2B5EF4-FFF2-40B4-BE49-F238E27FC236}">
                <a16:creationId xmlns:a16="http://schemas.microsoft.com/office/drawing/2014/main" id="{68783BD5-914B-CDFE-E305-1ABAB5196B85}"/>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889A78E9-5223-2BD7-6AC9-188CB1AA7A30}"/>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80DB35BA-100C-F9FC-6B38-92908A1E97DD}"/>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Output</a:t>
            </a:r>
          </a:p>
        </p:txBody>
      </p:sp>
      <p:sp>
        <p:nvSpPr>
          <p:cNvPr id="8" name="TextBox 7">
            <a:extLst>
              <a:ext uri="{FF2B5EF4-FFF2-40B4-BE49-F238E27FC236}">
                <a16:creationId xmlns:a16="http://schemas.microsoft.com/office/drawing/2014/main" id="{162716CB-97D2-B735-5DB0-702592D4D682}"/>
              </a:ext>
            </a:extLst>
          </p:cNvPr>
          <p:cNvSpPr txBox="1"/>
          <p:nvPr/>
        </p:nvSpPr>
        <p:spPr>
          <a:xfrm>
            <a:off x="0" y="1152070"/>
            <a:ext cx="12192000" cy="5220062"/>
          </a:xfrm>
          <a:prstGeom prst="rect">
            <a:avLst/>
          </a:prstGeom>
          <a:solidFill>
            <a:schemeClr val="tx1"/>
          </a:solidFill>
        </p:spPr>
        <p:txBody>
          <a:bodyPr wrap="square" rtlCol="0">
            <a:spAutoFit/>
          </a:bodyPr>
          <a:lstStyle/>
          <a:p>
            <a:endParaRPr lang="en-IN" dirty="0"/>
          </a:p>
        </p:txBody>
      </p:sp>
      <p:sp>
        <p:nvSpPr>
          <p:cNvPr id="12" name="TextBox 11">
            <a:extLst>
              <a:ext uri="{FF2B5EF4-FFF2-40B4-BE49-F238E27FC236}">
                <a16:creationId xmlns:a16="http://schemas.microsoft.com/office/drawing/2014/main" id="{C8D9809F-EE1A-4246-0873-7DD7D3308A2E}"/>
              </a:ext>
            </a:extLst>
          </p:cNvPr>
          <p:cNvSpPr txBox="1"/>
          <p:nvPr/>
        </p:nvSpPr>
        <p:spPr>
          <a:xfrm>
            <a:off x="1" y="1140643"/>
            <a:ext cx="2977692" cy="5016758"/>
          </a:xfrm>
          <a:prstGeom prst="rect">
            <a:avLst/>
          </a:prstGeom>
          <a:noFill/>
          <a:ln>
            <a:solidFill>
              <a:schemeClr val="bg1"/>
            </a:solidFill>
          </a:ln>
        </p:spPr>
        <p:txBody>
          <a:bodyPr wrap="square" rtlCol="0">
            <a:spAutoFit/>
          </a:bodyPr>
          <a:lstStyle/>
          <a:p>
            <a:r>
              <a:rPr lang="en-IN" sz="1000" dirty="0">
                <a:solidFill>
                  <a:schemeClr val="bg1"/>
                </a:solidFill>
              </a:rPr>
              <a:t>***********************************************</a:t>
            </a:r>
          </a:p>
          <a:p>
            <a:r>
              <a:rPr lang="en-IN" sz="1000" dirty="0">
                <a:solidFill>
                  <a:schemeClr val="bg1"/>
                </a:solidFill>
              </a:rPr>
              <a:t>  5G Core - SMF PDU Session Establishment</a:t>
            </a:r>
          </a:p>
          <a:p>
            <a:r>
              <a:rPr lang="en-IN" sz="1000" dirty="0">
                <a:solidFill>
                  <a:schemeClr val="bg1"/>
                </a:solidFill>
              </a:rPr>
              <a:t>  3GPP TS 23.502 / TS 29.502 Compliant</a:t>
            </a:r>
          </a:p>
          <a:p>
            <a:r>
              <a:rPr lang="en-IN" sz="1000" dirty="0">
                <a:solidFill>
                  <a:schemeClr val="bg1"/>
                </a:solidFill>
              </a:rPr>
              <a:t>***********************************************</a:t>
            </a:r>
          </a:p>
          <a:p>
            <a:r>
              <a:rPr lang="en-IN" sz="1000" dirty="0">
                <a:solidFill>
                  <a:schemeClr val="bg1"/>
                </a:solidFill>
              </a:rPr>
              <a:t>&gt;&gt;&gt;&gt;&gt;&gt; UE -&gt; AMF: NAS PDU Session Est </a:t>
            </a:r>
            <a:r>
              <a:rPr lang="en-IN" sz="1000" dirty="0" err="1">
                <a:solidFill>
                  <a:schemeClr val="bg1"/>
                </a:solidFill>
              </a:rPr>
              <a:t>Req</a:t>
            </a:r>
            <a:endParaRPr lang="en-IN" sz="1000" dirty="0">
              <a:solidFill>
                <a:schemeClr val="bg1"/>
              </a:solidFill>
            </a:endParaRPr>
          </a:p>
          <a:p>
            <a:r>
              <a:rPr lang="en-IN" sz="1000" dirty="0">
                <a:solidFill>
                  <a:schemeClr val="bg1"/>
                </a:solidFill>
              </a:rPr>
              <a:t>&gt;&gt;&gt;&gt;&gt;&gt; AMF -&gt; SMF: </a:t>
            </a:r>
            <a:r>
              <a:rPr lang="en-IN" sz="1000" dirty="0" err="1">
                <a:solidFill>
                  <a:schemeClr val="bg1"/>
                </a:solidFill>
              </a:rPr>
              <a:t>Nsmf</a:t>
            </a:r>
            <a:r>
              <a:rPr lang="en-IN" sz="1000" dirty="0">
                <a:solidFill>
                  <a:schemeClr val="bg1"/>
                </a:solidFill>
              </a:rPr>
              <a:t> </a:t>
            </a:r>
            <a:r>
              <a:rPr lang="en-IN" sz="1000" dirty="0" err="1">
                <a:solidFill>
                  <a:schemeClr val="bg1"/>
                </a:solidFill>
              </a:rPr>
              <a:t>CreateSMContext</a:t>
            </a:r>
            <a:endParaRPr lang="en-IN" sz="1000" dirty="0">
              <a:solidFill>
                <a:schemeClr val="bg1"/>
              </a:solidFill>
            </a:endParaRPr>
          </a:p>
          <a:p>
            <a:r>
              <a:rPr lang="en-IN" sz="1000" dirty="0">
                <a:solidFill>
                  <a:schemeClr val="bg1"/>
                </a:solidFill>
              </a:rPr>
              <a:t>========================================</a:t>
            </a:r>
          </a:p>
          <a:p>
            <a:r>
              <a:rPr lang="en-IN" sz="1000" dirty="0">
                <a:solidFill>
                  <a:schemeClr val="bg1"/>
                </a:solidFill>
              </a:rPr>
              <a:t>  SMF: </a:t>
            </a:r>
            <a:r>
              <a:rPr lang="en-IN" sz="1000" dirty="0" err="1">
                <a:solidFill>
                  <a:schemeClr val="bg1"/>
                </a:solidFill>
              </a:rPr>
              <a:t>Nsmf_PDUSession_CreateSMContext</a:t>
            </a:r>
            <a:endParaRPr lang="en-IN" sz="1000" dirty="0">
              <a:solidFill>
                <a:schemeClr val="bg1"/>
              </a:solidFill>
            </a:endParaRPr>
          </a:p>
          <a:p>
            <a:r>
              <a:rPr lang="en-IN" sz="1000" dirty="0">
                <a:solidFill>
                  <a:schemeClr val="bg1"/>
                </a:solidFill>
              </a:rPr>
              <a:t>========================================</a:t>
            </a:r>
          </a:p>
          <a:p>
            <a:r>
              <a:rPr lang="en-IN" sz="1000" dirty="0">
                <a:solidFill>
                  <a:schemeClr val="bg1"/>
                </a:solidFill>
              </a:rPr>
              <a:t>  [SMF] New session: ID=5, SUPI=imsi-001010123456789</a:t>
            </a:r>
          </a:p>
          <a:p>
            <a:r>
              <a:rPr lang="en-IN" sz="1000" dirty="0">
                <a:solidFill>
                  <a:schemeClr val="bg1"/>
                </a:solidFill>
              </a:rPr>
              <a:t>  [SMF] DNN=internet, S-NSSAI=SST=1,SD=1</a:t>
            </a:r>
          </a:p>
          <a:p>
            <a:r>
              <a:rPr lang="en-IN" sz="1000" dirty="0">
                <a:solidFill>
                  <a:schemeClr val="bg1"/>
                </a:solidFill>
              </a:rPr>
              <a:t>  [SMF] State: IDLE -&gt; SM_CONTEXT_CREATING</a:t>
            </a:r>
          </a:p>
          <a:p>
            <a:endParaRPr lang="en-IN" sz="1000" dirty="0">
              <a:solidFill>
                <a:schemeClr val="bg1"/>
              </a:solidFill>
            </a:endParaRPr>
          </a:p>
          <a:p>
            <a:r>
              <a:rPr lang="en-IN" sz="1000" dirty="0">
                <a:solidFill>
                  <a:schemeClr val="bg1"/>
                </a:solidFill>
              </a:rPr>
              <a:t>  --- Phase A1: UDM Query ---</a:t>
            </a:r>
          </a:p>
          <a:p>
            <a:r>
              <a:rPr lang="en-IN" sz="1000" dirty="0">
                <a:solidFill>
                  <a:schemeClr val="bg1"/>
                </a:solidFill>
              </a:rPr>
              <a:t>  [UDM] </a:t>
            </a:r>
            <a:r>
              <a:rPr lang="en-IN" sz="1000" dirty="0" err="1">
                <a:solidFill>
                  <a:schemeClr val="bg1"/>
                </a:solidFill>
              </a:rPr>
              <a:t>Nudm_SDM_Get</a:t>
            </a:r>
            <a:r>
              <a:rPr lang="en-IN" sz="1000" dirty="0">
                <a:solidFill>
                  <a:schemeClr val="bg1"/>
                </a:solidFill>
              </a:rPr>
              <a:t>: SUPI=imsi-001010123456789, DNN=internet</a:t>
            </a:r>
          </a:p>
          <a:p>
            <a:r>
              <a:rPr lang="en-IN" sz="1000" dirty="0">
                <a:solidFill>
                  <a:schemeClr val="bg1"/>
                </a:solidFill>
              </a:rPr>
              <a:t>  [UDM] Subscription: AMBR DL=500000kbps, UL=100000kbps, 5QI=9</a:t>
            </a:r>
          </a:p>
          <a:p>
            <a:r>
              <a:rPr lang="en-IN" sz="1000" dirty="0">
                <a:solidFill>
                  <a:schemeClr val="bg1"/>
                </a:solidFill>
              </a:rPr>
              <a:t>  [UDM] Authorization: GRANTED</a:t>
            </a:r>
          </a:p>
          <a:p>
            <a:endParaRPr lang="en-IN" sz="1000" dirty="0">
              <a:solidFill>
                <a:schemeClr val="bg1"/>
              </a:solidFill>
            </a:endParaRPr>
          </a:p>
          <a:p>
            <a:r>
              <a:rPr lang="en-IN" sz="1000" dirty="0">
                <a:solidFill>
                  <a:schemeClr val="bg1"/>
                </a:solidFill>
              </a:rPr>
              <a:t>  --- Phase A2: PCF Policy ---</a:t>
            </a:r>
          </a:p>
          <a:p>
            <a:r>
              <a:rPr lang="en-IN" sz="1000" dirty="0">
                <a:solidFill>
                  <a:schemeClr val="bg1"/>
                </a:solidFill>
              </a:rPr>
              <a:t>  [PCF] </a:t>
            </a:r>
            <a:r>
              <a:rPr lang="en-IN" sz="1000" dirty="0" err="1">
                <a:solidFill>
                  <a:schemeClr val="bg1"/>
                </a:solidFill>
              </a:rPr>
              <a:t>Npcf_SMPolicyControl_Create</a:t>
            </a:r>
            <a:r>
              <a:rPr lang="en-IN" sz="1000" dirty="0">
                <a:solidFill>
                  <a:schemeClr val="bg1"/>
                </a:solidFill>
              </a:rPr>
              <a:t> for DNN=internet</a:t>
            </a:r>
          </a:p>
          <a:p>
            <a:r>
              <a:rPr lang="en-IN" sz="1000" dirty="0">
                <a:solidFill>
                  <a:schemeClr val="bg1"/>
                </a:solidFill>
              </a:rPr>
              <a:t>  [PCF] Rules: 2 PCC rules installed</a:t>
            </a:r>
          </a:p>
          <a:p>
            <a:r>
              <a:rPr lang="en-IN" sz="1000" dirty="0">
                <a:solidFill>
                  <a:schemeClr val="bg1"/>
                </a:solidFill>
              </a:rPr>
              <a:t>         PCC_DEFAULT 5QI=9 Gate=OPEN</a:t>
            </a:r>
          </a:p>
          <a:p>
            <a:r>
              <a:rPr lang="en-IN" sz="1000" dirty="0">
                <a:solidFill>
                  <a:schemeClr val="bg1"/>
                </a:solidFill>
              </a:rPr>
              <a:t>         PCC_VIDEO 5QI=7 Gate=OPEN</a:t>
            </a:r>
          </a:p>
          <a:p>
            <a:endParaRPr lang="en-IN" sz="1000" dirty="0">
              <a:solidFill>
                <a:schemeClr val="bg1"/>
              </a:solidFill>
            </a:endParaRPr>
          </a:p>
          <a:p>
            <a:r>
              <a:rPr lang="en-IN" sz="1000" dirty="0">
                <a:solidFill>
                  <a:schemeClr val="bg1"/>
                </a:solidFill>
              </a:rPr>
              <a:t>  --- Phase A3: IP Allocation ---</a:t>
            </a:r>
          </a:p>
          <a:p>
            <a:r>
              <a:rPr lang="en-IN" sz="1000" dirty="0">
                <a:solidFill>
                  <a:schemeClr val="bg1"/>
                </a:solidFill>
              </a:rPr>
              <a:t>  [SMF] Allocated UE IP: 10.45.0.10</a:t>
            </a:r>
          </a:p>
          <a:p>
            <a:r>
              <a:rPr lang="en-IN" sz="1000" dirty="0">
                <a:solidFill>
                  <a:schemeClr val="bg1"/>
                </a:solidFill>
              </a:rPr>
              <a:t>  [SMF] Default QoS Flow: QFI=1, 5QI=9</a:t>
            </a:r>
          </a:p>
          <a:p>
            <a:endParaRPr lang="en-IN" sz="1000" dirty="0">
              <a:solidFill>
                <a:schemeClr val="bg1"/>
              </a:solidFill>
            </a:endParaRPr>
          </a:p>
        </p:txBody>
      </p:sp>
      <p:sp>
        <p:nvSpPr>
          <p:cNvPr id="14" name="TextBox 13">
            <a:extLst>
              <a:ext uri="{FF2B5EF4-FFF2-40B4-BE49-F238E27FC236}">
                <a16:creationId xmlns:a16="http://schemas.microsoft.com/office/drawing/2014/main" id="{6C4DFE2C-585B-33AE-FBDF-06CF2C379118}"/>
              </a:ext>
            </a:extLst>
          </p:cNvPr>
          <p:cNvSpPr txBox="1"/>
          <p:nvPr/>
        </p:nvSpPr>
        <p:spPr>
          <a:xfrm>
            <a:off x="3051437" y="1161497"/>
            <a:ext cx="2885387" cy="3000821"/>
          </a:xfrm>
          <a:prstGeom prst="rect">
            <a:avLst/>
          </a:prstGeom>
          <a:noFill/>
          <a:ln>
            <a:solidFill>
              <a:schemeClr val="bg1"/>
            </a:solidFill>
          </a:ln>
        </p:spPr>
        <p:txBody>
          <a:bodyPr wrap="square" rtlCol="0">
            <a:spAutoFit/>
          </a:bodyPr>
          <a:lstStyle/>
          <a:p>
            <a:r>
              <a:rPr lang="en-IN" sz="1050" dirty="0">
                <a:solidFill>
                  <a:schemeClr val="bg1"/>
                </a:solidFill>
              </a:rPr>
              <a:t>----------------------------------------------------------</a:t>
            </a:r>
          </a:p>
          <a:p>
            <a:r>
              <a:rPr lang="en-IN" sz="1050" dirty="0">
                <a:solidFill>
                  <a:schemeClr val="bg1"/>
                </a:solidFill>
              </a:rPr>
              <a:t>  </a:t>
            </a:r>
            <a:r>
              <a:rPr lang="en-IN" sz="1050" b="1" dirty="0">
                <a:solidFill>
                  <a:schemeClr val="bg1"/>
                </a:solidFill>
              </a:rPr>
              <a:t>Phase B</a:t>
            </a:r>
            <a:r>
              <a:rPr lang="en-IN" sz="1050" dirty="0">
                <a:solidFill>
                  <a:schemeClr val="bg1"/>
                </a:solidFill>
              </a:rPr>
              <a:t>: N4/PFCP Session Setup</a:t>
            </a:r>
          </a:p>
          <a:p>
            <a:r>
              <a:rPr lang="en-IN" sz="1050" dirty="0">
                <a:solidFill>
                  <a:schemeClr val="bg1"/>
                </a:solidFill>
              </a:rPr>
              <a:t>----------------------------------------------------------</a:t>
            </a:r>
          </a:p>
          <a:p>
            <a:r>
              <a:rPr lang="en-IN" sz="1050" dirty="0">
                <a:solidFill>
                  <a:schemeClr val="bg1"/>
                </a:solidFill>
              </a:rPr>
              <a:t>  [SMF] State: SM_CONTEXT_CREATING -&gt; N4_SESSION_SETUP</a:t>
            </a:r>
          </a:p>
          <a:p>
            <a:r>
              <a:rPr lang="en-IN" sz="1050" dirty="0">
                <a:solidFill>
                  <a:schemeClr val="bg1"/>
                </a:solidFill>
              </a:rPr>
              <a:t>  [SMF] Creating PFCP rules from PCC policy...</a:t>
            </a:r>
          </a:p>
          <a:p>
            <a:r>
              <a:rPr lang="en-IN" sz="1050" dirty="0">
                <a:solidFill>
                  <a:schemeClr val="bg1"/>
                </a:solidFill>
              </a:rPr>
              <a:t>  [SMF] Rules: 2 PDRs, 2 FARs, 1 QER created</a:t>
            </a:r>
          </a:p>
          <a:p>
            <a:r>
              <a:rPr lang="en-IN" sz="1050" dirty="0">
                <a:solidFill>
                  <a:schemeClr val="bg1"/>
                </a:solidFill>
              </a:rPr>
              <a:t>  [SMF] DL FAR initially set to BUFFER (</a:t>
            </a:r>
            <a:r>
              <a:rPr lang="en-IN" sz="1050" dirty="0" err="1">
                <a:solidFill>
                  <a:schemeClr val="bg1"/>
                </a:solidFill>
              </a:rPr>
              <a:t>gNB</a:t>
            </a:r>
            <a:r>
              <a:rPr lang="en-IN" sz="1050" dirty="0">
                <a:solidFill>
                  <a:schemeClr val="bg1"/>
                </a:solidFill>
              </a:rPr>
              <a:t> TEID unknown)</a:t>
            </a:r>
          </a:p>
          <a:p>
            <a:r>
              <a:rPr lang="en-IN" sz="1050" dirty="0">
                <a:solidFill>
                  <a:schemeClr val="bg1"/>
                </a:solidFill>
              </a:rPr>
              <a:t>  [UPF] N4: PFCP Session Est Request</a:t>
            </a:r>
          </a:p>
          <a:p>
            <a:r>
              <a:rPr lang="en-IN" sz="1050" dirty="0">
                <a:solidFill>
                  <a:schemeClr val="bg1"/>
                </a:solidFill>
              </a:rPr>
              <a:t>  [UPF] Installing: 2 PDRs, 2 FARs, 1 QERs</a:t>
            </a:r>
          </a:p>
          <a:p>
            <a:r>
              <a:rPr lang="en-IN" sz="1050" dirty="0">
                <a:solidFill>
                  <a:schemeClr val="bg1"/>
                </a:solidFill>
              </a:rPr>
              <a:t>  [UPF]   PDR#1 ACCESS-&gt;FAR#1</a:t>
            </a:r>
          </a:p>
          <a:p>
            <a:r>
              <a:rPr lang="en-IN" sz="1050" dirty="0">
                <a:solidFill>
                  <a:schemeClr val="bg1"/>
                </a:solidFill>
              </a:rPr>
              <a:t>  [UPF]   PDR#2 CORE-&gt;FAR#2</a:t>
            </a:r>
          </a:p>
          <a:p>
            <a:r>
              <a:rPr lang="en-IN" sz="1050" dirty="0">
                <a:solidFill>
                  <a:schemeClr val="bg1"/>
                </a:solidFill>
              </a:rPr>
              <a:t>  [UPF] N3 F-TEID: TEID=0x1000,IP=10.200.1.100</a:t>
            </a:r>
          </a:p>
          <a:p>
            <a:r>
              <a:rPr lang="en-IN" sz="1050" dirty="0">
                <a:solidFill>
                  <a:schemeClr val="bg1"/>
                </a:solidFill>
              </a:rPr>
              <a:t>  [UPF] Cause: Request Accepted</a:t>
            </a:r>
          </a:p>
          <a:p>
            <a:br>
              <a:rPr lang="en-IN" sz="1050" dirty="0">
                <a:solidFill>
                  <a:schemeClr val="bg1"/>
                </a:solidFill>
              </a:rPr>
            </a:br>
            <a:endParaRPr lang="en-IN" sz="1050" dirty="0">
              <a:solidFill>
                <a:schemeClr val="bg1"/>
              </a:solidFill>
            </a:endParaRPr>
          </a:p>
        </p:txBody>
      </p:sp>
      <p:sp>
        <p:nvSpPr>
          <p:cNvPr id="15" name="TextBox 14">
            <a:extLst>
              <a:ext uri="{FF2B5EF4-FFF2-40B4-BE49-F238E27FC236}">
                <a16:creationId xmlns:a16="http://schemas.microsoft.com/office/drawing/2014/main" id="{05AAEC9C-6D37-2C21-6579-64AE24FB5D85}"/>
              </a:ext>
            </a:extLst>
          </p:cNvPr>
          <p:cNvSpPr txBox="1"/>
          <p:nvPr/>
        </p:nvSpPr>
        <p:spPr>
          <a:xfrm>
            <a:off x="6010569" y="1161497"/>
            <a:ext cx="3148553" cy="5262979"/>
          </a:xfrm>
          <a:prstGeom prst="rect">
            <a:avLst/>
          </a:prstGeom>
          <a:noFill/>
          <a:ln>
            <a:solidFill>
              <a:schemeClr val="bg1"/>
            </a:solidFill>
          </a:ln>
        </p:spPr>
        <p:txBody>
          <a:bodyPr wrap="square" rtlCol="0">
            <a:spAutoFit/>
          </a:bodyPr>
          <a:lstStyle/>
          <a:p>
            <a:r>
              <a:rPr lang="en-IN" sz="1050" dirty="0">
                <a:solidFill>
                  <a:schemeClr val="bg1"/>
                </a:solidFill>
              </a:rPr>
              <a:t>------------------------------------------------------------</a:t>
            </a:r>
          </a:p>
          <a:p>
            <a:r>
              <a:rPr lang="en-IN" sz="1050" dirty="0">
                <a:solidFill>
                  <a:schemeClr val="bg1"/>
                </a:solidFill>
              </a:rPr>
              <a:t>  </a:t>
            </a:r>
            <a:r>
              <a:rPr lang="en-IN" sz="1050" b="1" dirty="0">
                <a:solidFill>
                  <a:schemeClr val="bg1"/>
                </a:solidFill>
              </a:rPr>
              <a:t>Phase C</a:t>
            </a:r>
            <a:r>
              <a:rPr lang="en-IN" sz="1050" dirty="0">
                <a:solidFill>
                  <a:schemeClr val="bg1"/>
                </a:solidFill>
              </a:rPr>
              <a:t>: N1N2MessageTransfer to AMF</a:t>
            </a:r>
          </a:p>
          <a:p>
            <a:r>
              <a:rPr lang="en-IN" sz="1050" dirty="0">
                <a:solidFill>
                  <a:schemeClr val="bg1"/>
                </a:solidFill>
              </a:rPr>
              <a:t>------------------------------------------------------------</a:t>
            </a:r>
          </a:p>
          <a:p>
            <a:r>
              <a:rPr lang="en-IN" sz="1050" dirty="0">
                <a:solidFill>
                  <a:schemeClr val="bg1"/>
                </a:solidFill>
              </a:rPr>
              <a:t>  [SMF] State: N4_SESSION_SETUP -&gt; WAITING_AN_TUNNEL_INFO</a:t>
            </a:r>
          </a:p>
          <a:p>
            <a:r>
              <a:rPr lang="en-IN" sz="1050" dirty="0">
                <a:solidFill>
                  <a:schemeClr val="bg1"/>
                </a:solidFill>
              </a:rPr>
              <a:t>  [SMF] Sending to AMF:</a:t>
            </a:r>
          </a:p>
          <a:p>
            <a:r>
              <a:rPr lang="en-IN" sz="1050" dirty="0">
                <a:solidFill>
                  <a:schemeClr val="bg1"/>
                </a:solidFill>
              </a:rPr>
              <a:t>    N1 (NAS): PDU Session Est Accept</a:t>
            </a:r>
          </a:p>
          <a:p>
            <a:r>
              <a:rPr lang="en-IN" sz="1050" dirty="0">
                <a:solidFill>
                  <a:schemeClr val="bg1"/>
                </a:solidFill>
              </a:rPr>
              <a:t>      PDU Session ID: 5</a:t>
            </a:r>
          </a:p>
          <a:p>
            <a:r>
              <a:rPr lang="en-IN" sz="1050" dirty="0">
                <a:solidFill>
                  <a:schemeClr val="bg1"/>
                </a:solidFill>
              </a:rPr>
              <a:t>      PDU Type: IPv4v6</a:t>
            </a:r>
          </a:p>
          <a:p>
            <a:r>
              <a:rPr lang="en-IN" sz="1050" dirty="0">
                <a:solidFill>
                  <a:schemeClr val="bg1"/>
                </a:solidFill>
              </a:rPr>
              <a:t>      UE IP: 10.45.0.10</a:t>
            </a:r>
          </a:p>
          <a:p>
            <a:r>
              <a:rPr lang="en-IN" sz="1050" dirty="0">
                <a:solidFill>
                  <a:schemeClr val="bg1"/>
                </a:solidFill>
              </a:rPr>
              <a:t>      Session AMBR: DL=500000 UL=100000</a:t>
            </a:r>
          </a:p>
          <a:p>
            <a:r>
              <a:rPr lang="en-IN" sz="1050" dirty="0">
                <a:solidFill>
                  <a:schemeClr val="bg1"/>
                </a:solidFill>
              </a:rPr>
              <a:t>      QoS Flow: QFI=1 5QI=9</a:t>
            </a:r>
          </a:p>
          <a:p>
            <a:r>
              <a:rPr lang="en-IN" sz="1050" dirty="0">
                <a:solidFill>
                  <a:schemeClr val="bg1"/>
                </a:solidFill>
              </a:rPr>
              <a:t>    N2 (NGAP): PDU Session Resource Setup Request</a:t>
            </a:r>
          </a:p>
          <a:p>
            <a:r>
              <a:rPr lang="en-IN" sz="1050" dirty="0">
                <a:solidFill>
                  <a:schemeClr val="bg1"/>
                </a:solidFill>
              </a:rPr>
              <a:t>      UPF N3 TEID: TEID=0x1000,IP=10.200.1.100</a:t>
            </a:r>
          </a:p>
          <a:p>
            <a:r>
              <a:rPr lang="en-IN" sz="1050" dirty="0">
                <a:solidFill>
                  <a:schemeClr val="bg1"/>
                </a:solidFill>
              </a:rPr>
              <a:t>      QoS Flow List for DRB mapping</a:t>
            </a:r>
          </a:p>
          <a:p>
            <a:endParaRPr lang="en-IN" sz="1050" dirty="0">
              <a:solidFill>
                <a:schemeClr val="bg1"/>
              </a:solidFill>
            </a:endParaRPr>
          </a:p>
          <a:p>
            <a:r>
              <a:rPr lang="en-IN" sz="1050" dirty="0">
                <a:solidFill>
                  <a:schemeClr val="bg1"/>
                </a:solidFill>
              </a:rPr>
              <a:t>&gt;&gt;&gt;&gt;&gt;&gt; AMF -&gt; </a:t>
            </a:r>
            <a:r>
              <a:rPr lang="en-IN" sz="1050" dirty="0" err="1">
                <a:solidFill>
                  <a:schemeClr val="bg1"/>
                </a:solidFill>
              </a:rPr>
              <a:t>gNB</a:t>
            </a:r>
            <a:r>
              <a:rPr lang="en-IN" sz="1050" dirty="0">
                <a:solidFill>
                  <a:schemeClr val="bg1"/>
                </a:solidFill>
              </a:rPr>
              <a:t>: PDU Session Resource Setup Request</a:t>
            </a:r>
          </a:p>
          <a:p>
            <a:r>
              <a:rPr lang="en-IN" sz="1050" dirty="0">
                <a:solidFill>
                  <a:schemeClr val="bg1"/>
                </a:solidFill>
              </a:rPr>
              <a:t>&gt;&gt;&gt;&gt;&gt;&gt; </a:t>
            </a:r>
            <a:r>
              <a:rPr lang="en-IN" sz="1050" dirty="0" err="1">
                <a:solidFill>
                  <a:schemeClr val="bg1"/>
                </a:solidFill>
              </a:rPr>
              <a:t>gNB</a:t>
            </a:r>
            <a:r>
              <a:rPr lang="en-IN" sz="1050" dirty="0">
                <a:solidFill>
                  <a:schemeClr val="bg1"/>
                </a:solidFill>
              </a:rPr>
              <a:t> -&gt; UE: RRC Reconfiguration (DRB setup + NAS Accept)</a:t>
            </a:r>
          </a:p>
          <a:p>
            <a:r>
              <a:rPr lang="en-IN" sz="1050" dirty="0">
                <a:solidFill>
                  <a:schemeClr val="bg1"/>
                </a:solidFill>
              </a:rPr>
              <a:t>&gt;&gt;&gt;&gt;&gt;&gt; UE -&gt; </a:t>
            </a:r>
            <a:r>
              <a:rPr lang="en-IN" sz="1050" dirty="0" err="1">
                <a:solidFill>
                  <a:schemeClr val="bg1"/>
                </a:solidFill>
              </a:rPr>
              <a:t>gNB</a:t>
            </a:r>
            <a:r>
              <a:rPr lang="en-IN" sz="1050" dirty="0">
                <a:solidFill>
                  <a:schemeClr val="bg1"/>
                </a:solidFill>
              </a:rPr>
              <a:t>: RRC </a:t>
            </a:r>
            <a:r>
              <a:rPr lang="en-IN" sz="1050" dirty="0" err="1">
                <a:solidFill>
                  <a:schemeClr val="bg1"/>
                </a:solidFill>
              </a:rPr>
              <a:t>Reconfig</a:t>
            </a:r>
            <a:r>
              <a:rPr lang="en-IN" sz="1050" dirty="0">
                <a:solidFill>
                  <a:schemeClr val="bg1"/>
                </a:solidFill>
              </a:rPr>
              <a:t> Complete</a:t>
            </a:r>
          </a:p>
          <a:p>
            <a:r>
              <a:rPr lang="en-IN" sz="1050" dirty="0">
                <a:solidFill>
                  <a:schemeClr val="bg1"/>
                </a:solidFill>
              </a:rPr>
              <a:t>&gt;&gt;&gt;&gt;&gt;&gt; </a:t>
            </a:r>
            <a:r>
              <a:rPr lang="en-IN" sz="1050" dirty="0" err="1">
                <a:solidFill>
                  <a:schemeClr val="bg1"/>
                </a:solidFill>
              </a:rPr>
              <a:t>gNB</a:t>
            </a:r>
            <a:r>
              <a:rPr lang="en-IN" sz="1050" dirty="0">
                <a:solidFill>
                  <a:schemeClr val="bg1"/>
                </a:solidFill>
              </a:rPr>
              <a:t> -&gt; AMF: Resource Setup </a:t>
            </a:r>
            <a:r>
              <a:rPr lang="en-IN" sz="1050" dirty="0" err="1">
                <a:solidFill>
                  <a:schemeClr val="bg1"/>
                </a:solidFill>
              </a:rPr>
              <a:t>Resp</a:t>
            </a:r>
            <a:endParaRPr lang="en-IN" sz="1050" dirty="0">
              <a:solidFill>
                <a:schemeClr val="bg1"/>
              </a:solidFill>
            </a:endParaRPr>
          </a:p>
          <a:p>
            <a:r>
              <a:rPr lang="en-IN" sz="1050" dirty="0">
                <a:solidFill>
                  <a:schemeClr val="bg1"/>
                </a:solidFill>
              </a:rPr>
              <a:t>&gt;&gt;&gt;&gt;&gt;&gt; AMF -&gt; SMF: </a:t>
            </a:r>
            <a:r>
              <a:rPr lang="en-IN" sz="1050" dirty="0" err="1">
                <a:solidFill>
                  <a:schemeClr val="bg1"/>
                </a:solidFill>
              </a:rPr>
              <a:t>UpdateSMContext</a:t>
            </a:r>
            <a:r>
              <a:rPr lang="en-IN" sz="1050" dirty="0">
                <a:solidFill>
                  <a:schemeClr val="bg1"/>
                </a:solidFill>
              </a:rPr>
              <a:t> (</a:t>
            </a:r>
            <a:r>
              <a:rPr lang="en-IN" sz="1050" dirty="0" err="1">
                <a:solidFill>
                  <a:schemeClr val="bg1"/>
                </a:solidFill>
              </a:rPr>
              <a:t>gNB</a:t>
            </a:r>
            <a:r>
              <a:rPr lang="en-IN" sz="1050" dirty="0">
                <a:solidFill>
                  <a:schemeClr val="bg1"/>
                </a:solidFill>
              </a:rPr>
              <a:t> TEID)</a:t>
            </a:r>
          </a:p>
          <a:p>
            <a:r>
              <a:rPr lang="en-IN" sz="1050" dirty="0">
                <a:solidFill>
                  <a:schemeClr val="bg1"/>
                </a:solidFill>
              </a:rPr>
              <a:t>=========================================</a:t>
            </a:r>
          </a:p>
          <a:p>
            <a:r>
              <a:rPr lang="en-IN" sz="1050" dirty="0">
                <a:solidFill>
                  <a:schemeClr val="bg1"/>
                </a:solidFill>
              </a:rPr>
              <a:t>  SMF: </a:t>
            </a:r>
            <a:r>
              <a:rPr lang="en-IN" sz="1050" dirty="0" err="1">
                <a:solidFill>
                  <a:schemeClr val="bg1"/>
                </a:solidFill>
              </a:rPr>
              <a:t>Nsmf_PDUSession_UpdateSMContext</a:t>
            </a:r>
            <a:endParaRPr lang="en-IN" sz="1050" dirty="0">
              <a:solidFill>
                <a:schemeClr val="bg1"/>
              </a:solidFill>
            </a:endParaRPr>
          </a:p>
          <a:p>
            <a:r>
              <a:rPr lang="en-IN" sz="1050" dirty="0">
                <a:solidFill>
                  <a:schemeClr val="bg1"/>
                </a:solidFill>
              </a:rPr>
              <a:t>=========================================</a:t>
            </a:r>
          </a:p>
          <a:p>
            <a:r>
              <a:rPr lang="en-IN" sz="1050" dirty="0">
                <a:solidFill>
                  <a:schemeClr val="bg1"/>
                </a:solidFill>
              </a:rPr>
              <a:t>  [SMF] Received </a:t>
            </a:r>
            <a:r>
              <a:rPr lang="en-IN" sz="1050" dirty="0" err="1">
                <a:solidFill>
                  <a:schemeClr val="bg1"/>
                </a:solidFill>
              </a:rPr>
              <a:t>gNB</a:t>
            </a:r>
            <a:r>
              <a:rPr lang="en-IN" sz="1050" dirty="0">
                <a:solidFill>
                  <a:schemeClr val="bg1"/>
                </a:solidFill>
              </a:rPr>
              <a:t> N3: TEID=0x2001,IP=192.168.1.50</a:t>
            </a:r>
          </a:p>
          <a:p>
            <a:br>
              <a:rPr lang="en-IN" sz="1050" dirty="0">
                <a:solidFill>
                  <a:schemeClr val="bg1"/>
                </a:solidFill>
              </a:rPr>
            </a:br>
            <a:endParaRPr lang="en-IN" sz="1050" dirty="0">
              <a:solidFill>
                <a:schemeClr val="bg1"/>
              </a:solidFill>
            </a:endParaRPr>
          </a:p>
        </p:txBody>
      </p:sp>
      <p:sp>
        <p:nvSpPr>
          <p:cNvPr id="16" name="TextBox 15">
            <a:extLst>
              <a:ext uri="{FF2B5EF4-FFF2-40B4-BE49-F238E27FC236}">
                <a16:creationId xmlns:a16="http://schemas.microsoft.com/office/drawing/2014/main" id="{4C6B66B0-B261-550E-124D-7E3803598AD2}"/>
              </a:ext>
            </a:extLst>
          </p:cNvPr>
          <p:cNvSpPr txBox="1"/>
          <p:nvPr/>
        </p:nvSpPr>
        <p:spPr>
          <a:xfrm>
            <a:off x="2977691" y="4212644"/>
            <a:ext cx="3148553" cy="2246769"/>
          </a:xfrm>
          <a:prstGeom prst="rect">
            <a:avLst/>
          </a:prstGeom>
          <a:noFill/>
        </p:spPr>
        <p:txBody>
          <a:bodyPr wrap="square" rtlCol="0">
            <a:spAutoFit/>
          </a:bodyPr>
          <a:lstStyle/>
          <a:p>
            <a:r>
              <a:rPr lang="en-IN" sz="1000" b="1" dirty="0">
                <a:solidFill>
                  <a:schemeClr val="bg1"/>
                </a:solidFill>
              </a:rPr>
              <a:t>Phase D</a:t>
            </a:r>
            <a:r>
              <a:rPr lang="en-IN" sz="1000" dirty="0">
                <a:solidFill>
                  <a:schemeClr val="bg1"/>
                </a:solidFill>
              </a:rPr>
              <a:t>: N4 Session Modification</a:t>
            </a:r>
          </a:p>
          <a:p>
            <a:r>
              <a:rPr lang="en-IN" sz="1000" dirty="0">
                <a:solidFill>
                  <a:schemeClr val="bg1"/>
                </a:solidFill>
              </a:rPr>
              <a:t>------------------------------------------------------------</a:t>
            </a:r>
          </a:p>
          <a:p>
            <a:r>
              <a:rPr lang="en-IN" sz="1000" dirty="0">
                <a:solidFill>
                  <a:schemeClr val="bg1"/>
                </a:solidFill>
              </a:rPr>
              <a:t>  [SMF] State: WAITING_AN_TUNNEL_INFO -&gt; N4_SESSION_MODIFYING</a:t>
            </a:r>
          </a:p>
          <a:p>
            <a:r>
              <a:rPr lang="en-IN" sz="1000" dirty="0">
                <a:solidFill>
                  <a:schemeClr val="bg1"/>
                </a:solidFill>
              </a:rPr>
              <a:t>  [SMF] Updating DL FAR#2: BUFFER -&gt; FORWARD</a:t>
            </a:r>
          </a:p>
          <a:p>
            <a:r>
              <a:rPr lang="en-IN" sz="1000" dirty="0">
                <a:solidFill>
                  <a:schemeClr val="bg1"/>
                </a:solidFill>
              </a:rPr>
              <a:t>  [SMF] Adding outer header creation with </a:t>
            </a:r>
            <a:r>
              <a:rPr lang="en-IN" sz="1000" dirty="0" err="1">
                <a:solidFill>
                  <a:schemeClr val="bg1"/>
                </a:solidFill>
              </a:rPr>
              <a:t>gNB</a:t>
            </a:r>
            <a:r>
              <a:rPr lang="en-IN" sz="1000" dirty="0">
                <a:solidFill>
                  <a:schemeClr val="bg1"/>
                </a:solidFill>
              </a:rPr>
              <a:t> TEID</a:t>
            </a:r>
          </a:p>
          <a:p>
            <a:r>
              <a:rPr lang="en-IN" sz="1000" dirty="0">
                <a:solidFill>
                  <a:schemeClr val="bg1"/>
                </a:solidFill>
              </a:rPr>
              <a:t>  [UPF] N4: PFCP Session Mod Request</a:t>
            </a:r>
          </a:p>
          <a:p>
            <a:r>
              <a:rPr lang="en-IN" sz="1000" dirty="0">
                <a:solidFill>
                  <a:schemeClr val="bg1"/>
                </a:solidFill>
              </a:rPr>
              <a:t>  [UPF] Updating DL FAR with </a:t>
            </a:r>
            <a:r>
              <a:rPr lang="en-IN" sz="1000" dirty="0" err="1">
                <a:solidFill>
                  <a:schemeClr val="bg1"/>
                </a:solidFill>
              </a:rPr>
              <a:t>gNB</a:t>
            </a:r>
            <a:r>
              <a:rPr lang="en-IN" sz="1000" dirty="0">
                <a:solidFill>
                  <a:schemeClr val="bg1"/>
                </a:solidFill>
              </a:rPr>
              <a:t>: TEID=0x2001,IP=192.168.1.50</a:t>
            </a:r>
          </a:p>
          <a:p>
            <a:r>
              <a:rPr lang="en-IN" sz="1000" dirty="0">
                <a:solidFill>
                  <a:schemeClr val="bg1"/>
                </a:solidFill>
              </a:rPr>
              <a:t>  [UPF] DL path activated</a:t>
            </a:r>
          </a:p>
          <a:p>
            <a:r>
              <a:rPr lang="en-IN" sz="1000" dirty="0">
                <a:solidFill>
                  <a:schemeClr val="bg1"/>
                </a:solidFill>
              </a:rPr>
              <a:t>  [SMF] State: N4_SESSION_MODIFYING -&gt; ACTIVE</a:t>
            </a:r>
          </a:p>
          <a:p>
            <a:r>
              <a:rPr lang="en-IN" sz="1000" dirty="0">
                <a:solidFill>
                  <a:schemeClr val="bg1"/>
                </a:solidFill>
              </a:rPr>
              <a:t>  *  PDU SESSION ESTABLISHED SUCCESS  *</a:t>
            </a:r>
          </a:p>
          <a:p>
            <a:r>
              <a:rPr lang="en-IN" sz="1000" dirty="0">
                <a:solidFill>
                  <a:schemeClr val="bg1"/>
                </a:solidFill>
              </a:rPr>
              <a:t>  *  User Plane Data Active           *</a:t>
            </a:r>
          </a:p>
          <a:p>
            <a:r>
              <a:rPr lang="en-IN" sz="1000" dirty="0">
                <a:solidFill>
                  <a:schemeClr val="bg1"/>
                </a:solidFill>
              </a:rPr>
              <a:t> </a:t>
            </a:r>
          </a:p>
        </p:txBody>
      </p:sp>
      <p:sp>
        <p:nvSpPr>
          <p:cNvPr id="17" name="TextBox 16">
            <a:extLst>
              <a:ext uri="{FF2B5EF4-FFF2-40B4-BE49-F238E27FC236}">
                <a16:creationId xmlns:a16="http://schemas.microsoft.com/office/drawing/2014/main" id="{12100E51-C7AE-30FE-2B92-50663F1EA059}"/>
              </a:ext>
            </a:extLst>
          </p:cNvPr>
          <p:cNvSpPr txBox="1"/>
          <p:nvPr/>
        </p:nvSpPr>
        <p:spPr>
          <a:xfrm>
            <a:off x="9214308" y="1152070"/>
            <a:ext cx="2977691" cy="3000821"/>
          </a:xfrm>
          <a:prstGeom prst="rect">
            <a:avLst/>
          </a:prstGeom>
          <a:noFill/>
          <a:ln>
            <a:solidFill>
              <a:schemeClr val="bg1"/>
            </a:solidFill>
          </a:ln>
        </p:spPr>
        <p:txBody>
          <a:bodyPr wrap="square" rtlCol="0">
            <a:spAutoFit/>
          </a:bodyPr>
          <a:lstStyle/>
          <a:p>
            <a:r>
              <a:rPr lang="en-IN" sz="1050" dirty="0">
                <a:solidFill>
                  <a:schemeClr val="bg1"/>
                </a:solidFill>
              </a:rPr>
              <a:t>=======================================</a:t>
            </a:r>
          </a:p>
          <a:p>
            <a:r>
              <a:rPr lang="en-IN" sz="1050" dirty="0">
                <a:solidFill>
                  <a:schemeClr val="bg1"/>
                </a:solidFill>
              </a:rPr>
              <a:t>  PDU SESSION SUMMARY</a:t>
            </a:r>
          </a:p>
          <a:p>
            <a:r>
              <a:rPr lang="en-IN" sz="1050" dirty="0">
                <a:solidFill>
                  <a:schemeClr val="bg1"/>
                </a:solidFill>
              </a:rPr>
              <a:t>=======================================</a:t>
            </a:r>
          </a:p>
          <a:p>
            <a:r>
              <a:rPr lang="en-IN" sz="1050" dirty="0">
                <a:solidFill>
                  <a:schemeClr val="bg1"/>
                </a:solidFill>
              </a:rPr>
              <a:t>  Session ID  : 5</a:t>
            </a:r>
          </a:p>
          <a:p>
            <a:r>
              <a:rPr lang="en-IN" sz="1050" dirty="0">
                <a:solidFill>
                  <a:schemeClr val="bg1"/>
                </a:solidFill>
              </a:rPr>
              <a:t>  SUPI        : imsi-001010123456789</a:t>
            </a:r>
          </a:p>
          <a:p>
            <a:r>
              <a:rPr lang="en-IN" sz="1050" dirty="0">
                <a:solidFill>
                  <a:schemeClr val="bg1"/>
                </a:solidFill>
              </a:rPr>
              <a:t>  DNN         : internet</a:t>
            </a:r>
          </a:p>
          <a:p>
            <a:r>
              <a:rPr lang="en-IN" sz="1050" dirty="0">
                <a:solidFill>
                  <a:schemeClr val="bg1"/>
                </a:solidFill>
              </a:rPr>
              <a:t>  S-NSSAI     : SST=1,SD=1</a:t>
            </a:r>
          </a:p>
          <a:p>
            <a:r>
              <a:rPr lang="en-IN" sz="1050" dirty="0">
                <a:solidFill>
                  <a:schemeClr val="bg1"/>
                </a:solidFill>
              </a:rPr>
              <a:t>  State       : ACTIVE</a:t>
            </a:r>
          </a:p>
          <a:p>
            <a:r>
              <a:rPr lang="en-IN" sz="1050" dirty="0">
                <a:solidFill>
                  <a:schemeClr val="bg1"/>
                </a:solidFill>
              </a:rPr>
              <a:t>  UE IP       : 10.45.0.10</a:t>
            </a:r>
          </a:p>
          <a:p>
            <a:r>
              <a:rPr lang="en-IN" sz="1050" dirty="0">
                <a:solidFill>
                  <a:schemeClr val="bg1"/>
                </a:solidFill>
              </a:rPr>
              <a:t>  UPF N3      : TEID=0x1000,IP=10.200.1.100</a:t>
            </a:r>
          </a:p>
          <a:p>
            <a:r>
              <a:rPr lang="en-IN" sz="1050" dirty="0">
                <a:solidFill>
                  <a:schemeClr val="bg1"/>
                </a:solidFill>
              </a:rPr>
              <a:t>  </a:t>
            </a:r>
            <a:r>
              <a:rPr lang="en-IN" sz="1050" dirty="0" err="1">
                <a:solidFill>
                  <a:schemeClr val="bg1"/>
                </a:solidFill>
              </a:rPr>
              <a:t>gNB</a:t>
            </a:r>
            <a:r>
              <a:rPr lang="en-IN" sz="1050" dirty="0">
                <a:solidFill>
                  <a:schemeClr val="bg1"/>
                </a:solidFill>
              </a:rPr>
              <a:t> N3      : TEID=0x2001,IP=192.168.1.50</a:t>
            </a:r>
          </a:p>
          <a:p>
            <a:r>
              <a:rPr lang="en-IN" sz="1050" dirty="0">
                <a:solidFill>
                  <a:schemeClr val="bg1"/>
                </a:solidFill>
              </a:rPr>
              <a:t>  AMBR        : DL=500000kbps, UL=100000kbps</a:t>
            </a:r>
          </a:p>
          <a:p>
            <a:r>
              <a:rPr lang="en-IN" sz="1050" dirty="0">
                <a:solidFill>
                  <a:schemeClr val="bg1"/>
                </a:solidFill>
              </a:rPr>
              <a:t>  QoS Flows   : 1</a:t>
            </a:r>
          </a:p>
          <a:p>
            <a:r>
              <a:rPr lang="en-IN" sz="1050" dirty="0">
                <a:solidFill>
                  <a:schemeClr val="bg1"/>
                </a:solidFill>
              </a:rPr>
              <a:t>    QFI=1 5QI=9 [DEFAULT]</a:t>
            </a:r>
          </a:p>
          <a:p>
            <a:r>
              <a:rPr lang="en-IN" sz="1050" dirty="0">
                <a:solidFill>
                  <a:schemeClr val="bg1"/>
                </a:solidFill>
              </a:rPr>
              <a:t>  PFCP Rules  : 2 PDRs, 2 FARs, 1 QERs</a:t>
            </a:r>
          </a:p>
          <a:p>
            <a:r>
              <a:rPr lang="en-IN" sz="1050" dirty="0">
                <a:solidFill>
                  <a:schemeClr val="bg1"/>
                </a:solidFill>
              </a:rPr>
              <a:t>  PCC Rules   : 2</a:t>
            </a:r>
          </a:p>
          <a:p>
            <a:r>
              <a:rPr lang="en-IN" sz="1050" dirty="0">
                <a:solidFill>
                  <a:schemeClr val="bg1"/>
                </a:solidFill>
              </a:rPr>
              <a:t>=======================================</a:t>
            </a:r>
            <a:br>
              <a:rPr lang="en-IN" sz="1050" dirty="0">
                <a:solidFill>
                  <a:schemeClr val="bg1"/>
                </a:solidFill>
              </a:rPr>
            </a:br>
            <a:endParaRPr lang="en-IN" sz="1050" dirty="0">
              <a:solidFill>
                <a:schemeClr val="bg1"/>
              </a:solidFill>
            </a:endParaRPr>
          </a:p>
        </p:txBody>
      </p:sp>
    </p:spTree>
    <p:extLst>
      <p:ext uri="{BB962C8B-B14F-4D97-AF65-F5344CB8AC3E}">
        <p14:creationId xmlns:p14="http://schemas.microsoft.com/office/powerpoint/2010/main" val="19762360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61F72-A0E1-4DF2-9E41-FB98FA2D97F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642B4997-D7A9-6B96-86C9-7690B9CCA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527DDC9-96A6-18DE-8E4B-2CFAC15D60FB}"/>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25BC515-B820-0D28-8405-9449B4BCE8E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25</a:t>
            </a:fld>
            <a:endParaRPr lang="en-US" dirty="0">
              <a:solidFill>
                <a:schemeClr val="tx1"/>
              </a:solidFill>
            </a:endParaRPr>
          </a:p>
        </p:txBody>
      </p:sp>
      <p:sp>
        <p:nvSpPr>
          <p:cNvPr id="4" name="TextBox 3">
            <a:extLst>
              <a:ext uri="{FF2B5EF4-FFF2-40B4-BE49-F238E27FC236}">
                <a16:creationId xmlns:a16="http://schemas.microsoft.com/office/drawing/2014/main" id="{297297CC-FE2B-20A5-BAD5-C573509E3762}"/>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50E3D2EA-206E-8E4B-F7E9-9DABC661F38B}"/>
              </a:ext>
            </a:extLst>
          </p:cNvPr>
          <p:cNvSpPr txBox="1"/>
          <p:nvPr/>
        </p:nvSpPr>
        <p:spPr>
          <a:xfrm>
            <a:off x="431513" y="109113"/>
            <a:ext cx="7324627"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Reference</a:t>
            </a:r>
          </a:p>
        </p:txBody>
      </p:sp>
      <p:pic>
        <p:nvPicPr>
          <p:cNvPr id="9" name="Picture 8">
            <a:extLst>
              <a:ext uri="{FF2B5EF4-FFF2-40B4-BE49-F238E27FC236}">
                <a16:creationId xmlns:a16="http://schemas.microsoft.com/office/drawing/2014/main" id="{6C630660-F91E-6381-D27D-78D1A8B3BF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26140"/>
            <a:ext cx="12192000" cy="3005720"/>
          </a:xfrm>
          <a:prstGeom prst="rect">
            <a:avLst/>
          </a:prstGeom>
        </p:spPr>
      </p:pic>
    </p:spTree>
    <p:extLst>
      <p:ext uri="{BB962C8B-B14F-4D97-AF65-F5344CB8AC3E}">
        <p14:creationId xmlns:p14="http://schemas.microsoft.com/office/powerpoint/2010/main" val="3804382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E2D84-683B-D79D-47D5-63548D921FE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4F51DD95-FF72-B373-71CA-7971D634FD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B9235BA-6D01-70A0-E561-10424FBC4826}"/>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A4EE359-A62E-CF67-C8D8-3BF88E35869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26</a:t>
            </a:fld>
            <a:endParaRPr lang="en-US" dirty="0">
              <a:solidFill>
                <a:schemeClr val="tx1"/>
              </a:solidFill>
            </a:endParaRPr>
          </a:p>
        </p:txBody>
      </p:sp>
      <p:sp>
        <p:nvSpPr>
          <p:cNvPr id="4" name="TextBox 3">
            <a:extLst>
              <a:ext uri="{FF2B5EF4-FFF2-40B4-BE49-F238E27FC236}">
                <a16:creationId xmlns:a16="http://schemas.microsoft.com/office/drawing/2014/main" id="{322CE745-8692-DD4B-38A7-F4B60777288A}"/>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74F32246-27B9-A562-01FA-BF126351C75A}"/>
              </a:ext>
            </a:extLst>
          </p:cNvPr>
          <p:cNvSpPr txBox="1"/>
          <p:nvPr/>
        </p:nvSpPr>
        <p:spPr>
          <a:xfrm>
            <a:off x="431513" y="109113"/>
            <a:ext cx="7324627"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Key Concept Summary</a:t>
            </a:r>
          </a:p>
        </p:txBody>
      </p:sp>
      <p:sp>
        <p:nvSpPr>
          <p:cNvPr id="7" name="TextBox 6">
            <a:extLst>
              <a:ext uri="{FF2B5EF4-FFF2-40B4-BE49-F238E27FC236}">
                <a16:creationId xmlns:a16="http://schemas.microsoft.com/office/drawing/2014/main" id="{F901AC7B-C23B-8720-5DA5-2EFF2A3C7AC0}"/>
              </a:ext>
            </a:extLst>
          </p:cNvPr>
          <p:cNvSpPr txBox="1"/>
          <p:nvPr/>
        </p:nvSpPr>
        <p:spPr>
          <a:xfrm>
            <a:off x="1485664" y="1306915"/>
            <a:ext cx="7772400" cy="4811574"/>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SMF orchestrates PDU Session lifecycle management</a:t>
            </a:r>
          </a:p>
          <a:p>
            <a:pPr>
              <a:spcBef>
                <a:spcPts val="800"/>
              </a:spcBef>
              <a:spcAft>
                <a:spcPts val="800"/>
              </a:spcAft>
              <a:defRPr sz="1600">
                <a:solidFill>
                  <a:srgbClr val="1E293B"/>
                </a:solidFill>
              </a:defRPr>
            </a:pPr>
            <a:r>
              <a:rPr sz="2400" dirty="0"/>
              <a:t>• PFCP protocol controls user plane (UPF) from control plane (SMF)</a:t>
            </a:r>
          </a:p>
          <a:p>
            <a:pPr>
              <a:spcBef>
                <a:spcPts val="800"/>
              </a:spcBef>
              <a:spcAft>
                <a:spcPts val="800"/>
              </a:spcAft>
              <a:defRPr sz="1600">
                <a:solidFill>
                  <a:srgbClr val="1E293B"/>
                </a:solidFill>
              </a:defRPr>
            </a:pPr>
            <a:r>
              <a:rPr sz="2400" dirty="0"/>
              <a:t>• State machine: IDLE → CREATING → N4_SETUP → WAITING → MODIFYING → ACTIVE</a:t>
            </a:r>
          </a:p>
          <a:p>
            <a:pPr>
              <a:spcBef>
                <a:spcPts val="800"/>
              </a:spcBef>
              <a:spcAft>
                <a:spcPts val="800"/>
              </a:spcAft>
              <a:defRPr sz="1600">
                <a:solidFill>
                  <a:srgbClr val="1E293B"/>
                </a:solidFill>
              </a:defRPr>
            </a:pPr>
            <a:r>
              <a:rPr sz="2400" dirty="0"/>
              <a:t>• DL FAR progression: BUFFER → FORWARD (after </a:t>
            </a:r>
            <a:r>
              <a:rPr sz="2400" dirty="0" err="1"/>
              <a:t>gNB</a:t>
            </a:r>
            <a:r>
              <a:rPr sz="2400" dirty="0"/>
              <a:t> tunnel known)</a:t>
            </a:r>
          </a:p>
          <a:p>
            <a:pPr>
              <a:spcBef>
                <a:spcPts val="800"/>
              </a:spcBef>
              <a:spcAft>
                <a:spcPts val="800"/>
              </a:spcAft>
              <a:defRPr sz="1600">
                <a:solidFill>
                  <a:srgbClr val="1E293B"/>
                </a:solidFill>
              </a:defRPr>
            </a:pPr>
            <a:r>
              <a:rPr sz="2400" dirty="0"/>
              <a:t>• QoS flows map to 5QI values for packet treatment</a:t>
            </a:r>
          </a:p>
          <a:p>
            <a:pPr>
              <a:spcBef>
                <a:spcPts val="800"/>
              </a:spcBef>
              <a:spcAft>
                <a:spcPts val="800"/>
              </a:spcAft>
              <a:defRPr sz="1600">
                <a:solidFill>
                  <a:srgbClr val="1E293B"/>
                </a:solidFill>
              </a:defRPr>
            </a:pPr>
            <a:r>
              <a:rPr sz="2400" dirty="0"/>
              <a:t>• 3GPP specs: TS 23.502 (procedures), TS 29.502 (APIs), TS 29.244 (PFCP)</a:t>
            </a:r>
          </a:p>
        </p:txBody>
      </p:sp>
    </p:spTree>
    <p:extLst>
      <p:ext uri="{BB962C8B-B14F-4D97-AF65-F5344CB8AC3E}">
        <p14:creationId xmlns:p14="http://schemas.microsoft.com/office/powerpoint/2010/main" val="2470495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14071-8514-A5E8-EE8F-E59FAD2248D9}"/>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6D8FC4C0-0B4A-1441-5E25-CFEEA77A6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0860704-E830-8686-6B6D-991C71A321F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0D76C60-57B6-74CC-7713-351F41882C9D}"/>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27</a:t>
            </a:fld>
            <a:endParaRPr lang="en-US" dirty="0">
              <a:solidFill>
                <a:schemeClr val="tx1"/>
              </a:solidFill>
            </a:endParaRPr>
          </a:p>
        </p:txBody>
      </p:sp>
      <p:sp>
        <p:nvSpPr>
          <p:cNvPr id="4" name="TextBox 3">
            <a:extLst>
              <a:ext uri="{FF2B5EF4-FFF2-40B4-BE49-F238E27FC236}">
                <a16:creationId xmlns:a16="http://schemas.microsoft.com/office/drawing/2014/main" id="{0F8224A7-0F6F-55A6-6EE5-31135F57449B}"/>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0E54464A-BDC5-C0E5-C746-16CBFD183FE9}"/>
              </a:ext>
            </a:extLst>
          </p:cNvPr>
          <p:cNvSpPr txBox="1"/>
          <p:nvPr/>
        </p:nvSpPr>
        <p:spPr>
          <a:xfrm>
            <a:off x="4312984" y="185600"/>
            <a:ext cx="6664751"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Thank You</a:t>
            </a:r>
          </a:p>
        </p:txBody>
      </p:sp>
      <p:sp>
        <p:nvSpPr>
          <p:cNvPr id="7" name="TextBox 6">
            <a:extLst>
              <a:ext uri="{FF2B5EF4-FFF2-40B4-BE49-F238E27FC236}">
                <a16:creationId xmlns:a16="http://schemas.microsoft.com/office/drawing/2014/main" id="{4007CBB9-B1FD-28F4-3944-B34FF329C01F}"/>
              </a:ext>
            </a:extLst>
          </p:cNvPr>
          <p:cNvSpPr txBox="1"/>
          <p:nvPr/>
        </p:nvSpPr>
        <p:spPr>
          <a:xfrm>
            <a:off x="0" y="2441542"/>
            <a:ext cx="12192000" cy="3148553"/>
          </a:xfrm>
          <a:prstGeom prst="rect">
            <a:avLst/>
          </a:prstGeom>
          <a:solidFill>
            <a:schemeClr val="tx2">
              <a:lumMod val="90000"/>
              <a:lumOff val="10000"/>
            </a:schemeClr>
          </a:solidFill>
        </p:spPr>
        <p:txBody>
          <a:bodyPr wrap="square" rtlCol="0">
            <a:spAutoFit/>
          </a:bodyPr>
          <a:lstStyle/>
          <a:p>
            <a:pPr lvl="8"/>
            <a:r>
              <a:rPr lang="en-IN" sz="3200" b="1" u="sng" dirty="0">
                <a:solidFill>
                  <a:schemeClr val="tx2">
                    <a:lumMod val="10000"/>
                    <a:lumOff val="90000"/>
                  </a:schemeClr>
                </a:solidFill>
              </a:rPr>
              <a:t>Presented By Group : 03</a:t>
            </a:r>
          </a:p>
          <a:p>
            <a:pPr lvl="8"/>
            <a:r>
              <a:rPr lang="en-IN" sz="3200" dirty="0">
                <a:solidFill>
                  <a:schemeClr val="tx2">
                    <a:lumMod val="10000"/>
                    <a:lumOff val="90000"/>
                  </a:schemeClr>
                </a:solidFill>
              </a:rPr>
              <a:t>1. Jayavarshini G</a:t>
            </a:r>
          </a:p>
          <a:p>
            <a:pPr lvl="8"/>
            <a:r>
              <a:rPr lang="en-IN" sz="3200" dirty="0">
                <a:solidFill>
                  <a:schemeClr val="tx2">
                    <a:lumMod val="10000"/>
                    <a:lumOff val="90000"/>
                  </a:schemeClr>
                </a:solidFill>
              </a:rPr>
              <a:t>2. </a:t>
            </a:r>
            <a:r>
              <a:rPr lang="en-IN" sz="3200" dirty="0" err="1">
                <a:solidFill>
                  <a:schemeClr val="tx2">
                    <a:lumMod val="10000"/>
                    <a:lumOff val="90000"/>
                  </a:schemeClr>
                </a:solidFill>
              </a:rPr>
              <a:t>Harshinie</a:t>
            </a:r>
            <a:r>
              <a:rPr lang="en-IN" sz="3200" dirty="0">
                <a:solidFill>
                  <a:schemeClr val="tx2">
                    <a:lumMod val="10000"/>
                    <a:lumOff val="90000"/>
                  </a:schemeClr>
                </a:solidFill>
              </a:rPr>
              <a:t> M</a:t>
            </a:r>
          </a:p>
          <a:p>
            <a:pPr lvl="8"/>
            <a:r>
              <a:rPr lang="en-IN" sz="3200" dirty="0">
                <a:solidFill>
                  <a:schemeClr val="tx2">
                    <a:lumMod val="10000"/>
                    <a:lumOff val="90000"/>
                  </a:schemeClr>
                </a:solidFill>
              </a:rPr>
              <a:t>3. Yuvaraj P</a:t>
            </a:r>
          </a:p>
          <a:p>
            <a:pPr lvl="8"/>
            <a:r>
              <a:rPr lang="en-IN" sz="3200" dirty="0">
                <a:solidFill>
                  <a:schemeClr val="tx2">
                    <a:lumMod val="10000"/>
                    <a:lumOff val="90000"/>
                  </a:schemeClr>
                </a:solidFill>
              </a:rPr>
              <a:t>4. Shreyash Bhatt</a:t>
            </a:r>
          </a:p>
          <a:p>
            <a:pPr lvl="8"/>
            <a:r>
              <a:rPr lang="en-IN" sz="3200" dirty="0">
                <a:solidFill>
                  <a:schemeClr val="tx2">
                    <a:lumMod val="10000"/>
                    <a:lumOff val="90000"/>
                  </a:schemeClr>
                </a:solidFill>
              </a:rPr>
              <a:t>5. Vikas Srivastava</a:t>
            </a:r>
          </a:p>
        </p:txBody>
      </p:sp>
    </p:spTree>
    <p:extLst>
      <p:ext uri="{BB962C8B-B14F-4D97-AF65-F5344CB8AC3E}">
        <p14:creationId xmlns:p14="http://schemas.microsoft.com/office/powerpoint/2010/main" val="3183718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2891</TotalTime>
  <Words>2400</Words>
  <Application>Microsoft Office PowerPoint</Application>
  <PresentationFormat>Widescreen</PresentationFormat>
  <Paragraphs>317</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Aptos Display</vt:lpstr>
      <vt:lpstr>Arial</vt:lpstr>
      <vt:lpstr>Calibri</vt:lpstr>
      <vt:lpstr>HK Grotesk</vt:lpstr>
      <vt:lpstr>HK Grotesk Light</vt:lpstr>
      <vt:lpstr>HK Grotesk Light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vikas srivastava</cp:lastModifiedBy>
  <cp:revision>47</cp:revision>
  <dcterms:created xsi:type="dcterms:W3CDTF">2024-05-04T13:11:57Z</dcterms:created>
  <dcterms:modified xsi:type="dcterms:W3CDTF">2026-02-14T05:12:28Z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